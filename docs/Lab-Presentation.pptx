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ee379a5b1fe4caf" /><Relationship Type="http://schemas.openxmlformats.org/officeDocument/2006/relationships/extended-properties" Target="/docProps/app.xml" Id="Re317404867584d8d" /><Relationship Type="http://schemas.openxmlformats.org/officeDocument/2006/relationships/officeDocument" Target="/ppt/presentation.xml" Id="R0d4c54053d484155" /></Relationships>
</file>

<file path=ppt/presentation.xml><?xml version="1.0" encoding="utf-8"?>
<p:presentation xmlns:p="http://schemas.openxmlformats.org/presentationml/2006/main">
  <p:sldMasterIdLst>
    <p:sldMasterId xmlns:r="http://schemas.openxmlformats.org/officeDocument/2006/relationships" id="2147483648" r:id="R49a87f32463b48a9"/>
  </p:sldMasterIdLst>
  <p:notesMasterIdLst>
    <p:notesMasterId xmlns:r="http://schemas.openxmlformats.org/officeDocument/2006/relationships" r:id="R32b57c95be30471d"/>
  </p:notesMasterIdLst>
  <p:sldIdLst>
    <p:sldId xmlns:r="http://schemas.openxmlformats.org/officeDocument/2006/relationships" id="256" r:id="R5b7fa1d4786140f6"/>
    <p:sldId xmlns:r="http://schemas.openxmlformats.org/officeDocument/2006/relationships" id="257" r:id="R7d8ace9c47d84b0b"/>
    <p:sldId xmlns:r="http://schemas.openxmlformats.org/officeDocument/2006/relationships" id="258" r:id="R81897f3efe814ee9"/>
    <p:sldId xmlns:r="http://schemas.openxmlformats.org/officeDocument/2006/relationships" id="259" r:id="R11644dd5ac504303"/>
    <p:sldId xmlns:r="http://schemas.openxmlformats.org/officeDocument/2006/relationships" id="260" r:id="R42392573767b4a7e"/>
    <p:sldId xmlns:r="http://schemas.openxmlformats.org/officeDocument/2006/relationships" id="261" r:id="R62d088145bf0405f"/>
    <p:sldId xmlns:r="http://schemas.openxmlformats.org/officeDocument/2006/relationships" id="262" r:id="Rcb271a5897454dd4"/>
    <p:sldId xmlns:r="http://schemas.openxmlformats.org/officeDocument/2006/relationships" id="263" r:id="R23aa43a976de4303"/>
    <p:sldId xmlns:r="http://schemas.openxmlformats.org/officeDocument/2006/relationships" id="264" r:id="R3aab64e1cb4242ca"/>
    <p:sldId xmlns:r="http://schemas.openxmlformats.org/officeDocument/2006/relationships" id="265" r:id="R57af9fe923df4c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05933b2c904f0d" /><Relationship Type="http://schemas.openxmlformats.org/officeDocument/2006/relationships/slideMaster" Target="/ppt/slideMasters/slideMaster1.xml" Id="R49a87f32463b48a9" /><Relationship Type="http://schemas.openxmlformats.org/officeDocument/2006/relationships/notesMaster" Target="/ppt/notesMasters/notesMaster1.xml" Id="R32b57c95be30471d" /><Relationship Type="http://schemas.openxmlformats.org/officeDocument/2006/relationships/presProps" Target="/ppt/presProps.xml" Id="R3afa969426834323" /><Relationship Type="http://schemas.openxmlformats.org/officeDocument/2006/relationships/tableStyles" Target="/ppt/tableStyles.xml" Id="R109611229ed54dc5" /><Relationship Type="http://schemas.openxmlformats.org/officeDocument/2006/relationships/slide" Target="/ppt/slides/slide1.xml" Id="R5b7fa1d4786140f6" /><Relationship Type="http://schemas.openxmlformats.org/officeDocument/2006/relationships/slide" Target="/ppt/slides/slide2.xml" Id="R7d8ace9c47d84b0b" /><Relationship Type="http://schemas.openxmlformats.org/officeDocument/2006/relationships/slide" Target="/ppt/slides/slide3.xml" Id="R81897f3efe814ee9" /><Relationship Type="http://schemas.openxmlformats.org/officeDocument/2006/relationships/slide" Target="/ppt/slides/slide4.xml" Id="R11644dd5ac504303" /><Relationship Type="http://schemas.openxmlformats.org/officeDocument/2006/relationships/slide" Target="/ppt/slides/slide5.xml" Id="R42392573767b4a7e" /><Relationship Type="http://schemas.openxmlformats.org/officeDocument/2006/relationships/slide" Target="/ppt/slides/slide6.xml" Id="R62d088145bf0405f" /><Relationship Type="http://schemas.openxmlformats.org/officeDocument/2006/relationships/slide" Target="/ppt/slides/slide7.xml" Id="Rcb271a5897454dd4" /><Relationship Type="http://schemas.openxmlformats.org/officeDocument/2006/relationships/slide" Target="/ppt/slides/slide8.xml" Id="R23aa43a976de4303" /><Relationship Type="http://schemas.openxmlformats.org/officeDocument/2006/relationships/slide" Target="/ppt/slides/slide9.xml" Id="R3aab64e1cb4242ca" /><Relationship Type="http://schemas.openxmlformats.org/officeDocument/2006/relationships/slide" Target="/ppt/slides/slide10.xml" Id="R57af9fe923df4c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1243c460c34b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247ea671054c5b" /><Relationship Type="http://schemas.openxmlformats.org/officeDocument/2006/relationships/notesMaster" Target="/ppt/notesMasters/notesMaster1.xml" Id="R8c07004c217e4a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0067ee54b14a5a" /><Relationship Type="http://schemas.openxmlformats.org/officeDocument/2006/relationships/notesMaster" Target="/ppt/notesMasters/notesMaster1.xml" Id="R6b7ac8c62c7744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db9a10830a48f0" /><Relationship Type="http://schemas.openxmlformats.org/officeDocument/2006/relationships/notesMaster" Target="/ppt/notesMasters/notesMaster1.xml" Id="R097730b7f05243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d195cc4bc64da3" /><Relationship Type="http://schemas.openxmlformats.org/officeDocument/2006/relationships/notesMaster" Target="/ppt/notesMasters/notesMaster1.xml" Id="R7664fd43133445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0d376d24e04586" /><Relationship Type="http://schemas.openxmlformats.org/officeDocument/2006/relationships/notesMaster" Target="/ppt/notesMasters/notesMaster1.xml" Id="R47b20b0b39184f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6e4997dc5e4cfa" /><Relationship Type="http://schemas.openxmlformats.org/officeDocument/2006/relationships/notesMaster" Target="/ppt/notesMasters/notesMaster1.xml" Id="R8d0e19d664e846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b8763a70434f5d" /><Relationship Type="http://schemas.openxmlformats.org/officeDocument/2006/relationships/notesMaster" Target="/ppt/notesMasters/notesMaster1.xml" Id="R02268fb10c1345b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f7d1956e64640b1" /><Relationship Type="http://schemas.openxmlformats.org/officeDocument/2006/relationships/notesMaster" Target="/ppt/notesMasters/notesMaster1.xml" Id="R91a893e143b444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8ca88be4e24e34" /><Relationship Type="http://schemas.openxmlformats.org/officeDocument/2006/relationships/notesMaster" Target="/ppt/notesMasters/notesMaster1.xml" Id="R85597078916146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5af3bc684745da" /><Relationship Type="http://schemas.openxmlformats.org/officeDocument/2006/relationships/notesMaster" Target="/ppt/notesMasters/notesMaster1.xml" Id="R67c611deee7748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a:t>
            </a:r>
          </a:p>
          <a:p xmlns:a="http://schemas.openxmlformats.org/drawingml/2006/main">
            <a:r>
              <a:t/>
            </a:r>
          </a:p>
          <a:p xmlns:a="http://schemas.openxmlformats.org/drawingml/2006/main">
            <a:r>
              <a:t>Our project automatically checks the performance of a candidate application before allowing deployment. We will demonstrate a fast release, a slow release that the gate blocks, and a corrected release that the gate accepts.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a:t>
            </a:r>
          </a:p>
          <a:p xmlns:a="http://schemas.openxmlformats.org/drawingml/2006/main">
            <a:r>
              <a:t/>
            </a:r>
          </a:p>
          <a:p xmlns:a="http://schemas.openxmlformats.org/drawingml/2006/main">
            <a:r>
              <a:t>A functional test can confirm that the product API returns valid data, while users still face long waiting times. We add a performance acceptance test before deployment. Our controlled slowdown represents an inefficient 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a:t>
            </a:r>
          </a:p>
          <a:p xmlns:a="http://schemas.openxmlformats.org/drawingml/2006/main">
            <a:r>
              <a:t/>
            </a:r>
          </a:p>
          <a:p xmlns:a="http://schemas.openxmlformats.org/drawingml/2006/main">
            <a:r>
              <a:t>The local demo separates staging on port 3001 from demo production on port 3100. Node.js runs the API and the local pipeline. The k6 executable runs the performance test. Docker and the GitHub workflow provide the container and CI route. Local build means snapshotting the source, while CI builds an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a:t>
            </a:r>
          </a:p>
          <a:p xmlns:a="http://schemas.openxmlformats.org/drawingml/2006/main">
            <a:r>
              <a:t/>
            </a:r>
          </a:p>
          <a:p xmlns:a="http://schemas.openxmlformats.org/drawingml/2006/main">
            <a:r>
              <a:t>We simulate 10 concurrent virtual users for 15 seconds. Each virtual user requests the product catalogue, checks it, and waits 0.2 seconds. This is not a constant requests-per-second workload. p95 is the 95th percentile of request durations. Checks alone do not decide the process exit code, so we add a checks threshold. Sources: https://grafana.com/docs/k6/latest/using-k6/thresholds/ and https://grafana.com/docs/k6/latest/results-output/end-of-test/custom-summary/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a:t>
            </a:r>
          </a:p>
          <a:p xmlns:a="http://schemas.openxmlformats.org/drawingml/2006/main">
            <a:r>
              <a:t/>
            </a:r>
          </a:p>
          <a:p xmlns:a="http://schemas.openxmlformats.org/drawingml/2006/main">
            <a:r>
              <a:t>The real pipeline waits for staging, executes k6, and checks its exit code. Code 0 allows deployment. Code 99 means a threshold failed. Any other nonzero code also blocks deployment. The local pipeline promotes the exact tested snapshot. It never stops current production after a test failure. A successful replacement briefly restarts the process. Source: https://grafana.com/docs/learning-paths/establish-k6-baseline/validate-thresholds/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a:t>
            </a:r>
          </a:p>
          <a:p xmlns:a="http://schemas.openxmlformats.org/drawingml/2006/main">
            <a:r>
              <a:t/>
            </a:r>
          </a:p>
          <a:p xmlns:a="http://schemas.openxmlformats.org/drawingml/2006/main">
            <a:r>
              <a:t>Open the application at localhost:3100. It displays these fictional sample products, the running release, and measured deployment history. The k6 script tests GET /api/products. Each response contains four products and the candidate version. The browser request timer is a single request and is not a load-test percentile. Source: project src/app.mjs and successful response checks from the actual local k6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a:t>
            </a:r>
          </a:p>
          <a:p xmlns:a="http://schemas.openxmlformats.org/drawingml/2006/main">
            <a:r>
              <a:t/>
            </a:r>
          </a:p>
          <a:p xmlns:a="http://schemas.openxmlformats.org/drawingml/2006/main">
            <a:r>
              <a:t>The data comes from actual local k6 runs saved in reports and .runtime/history.json. Fast p95: 47.75 ms. Slow p95: 1218.86 ms. Fixed p95: 46.58 ms. All runs have zero HTTP failures and all checks pass. The slow release fails only the latency budget and leaves v1-fast running. Results depend on this machine and workload.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then Presenter B</a:t>
            </a:r>
          </a:p>
          <a:p xmlns:a="http://schemas.openxmlformats.org/drawingml/2006/main">
            <a:r>
              <a:t/>
            </a:r>
          </a:p>
          <a:p xmlns:a="http://schemas.openxmlformats.org/drawingml/2006/main">
            <a:r>
              <a:t>Use the two-terminal walkthrough in docs/TOOL-DEMO.md. Start a fast candidate on port 3001, open tests/performance.js and explain virtual users, duration, HTTP requests, checks and thresholds. Run k6 directly and display exit code 0. Switch the staging application to slow and change EXPECTED_VERSION to v2-slow. Show correct HTTP responses but failed latency and exit code 99. Stop manual staging before running the pipeline. Presenter B then runs the fast, slow and fixed pipeline scenarios and shows the production release at localhost:3100.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B</a:t>
            </a:r>
          </a:p>
          <a:p xmlns:a="http://schemas.openxmlformats.org/drawingml/2006/main">
            <a:r>
              <a:t/>
            </a:r>
          </a:p>
          <a:p xmlns:a="http://schemas.openxmlformats.org/drawingml/2006/main">
            <a:r>
              <a:t>The included workflow builds and tests a Docker candidate. The deploy_demo job needs the performance job. A failed prerequisite skips the deployment job. A successful prerequisite saves the tested image, which deployment loads without rebuilding. The deployment is a temporary runner container, not a public hosted site. This workflow source is prepared, but it has not been run on our GitHub account unless we show an actual workflow run. Sources: https://docs.github.com/en/actions/how-tos/write-workflows/choose-what-workflows-do/use-jobs and https://docs.github.com/en/actions/tutorials/store-and-share-data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 and Presenter B</a:t>
            </a:r>
          </a:p>
          <a:p xmlns:a="http://schemas.openxmlformats.org/drawingml/2006/main">
            <a:r>
              <a:t/>
            </a:r>
          </a:p>
          <a:p xmlns:a="http://schemas.openxmlformats.org/drawingml/2006/main">
            <a:r>
              <a:t>The lab proves the performance gate and actual local deployment behavior. It uses an artificial delay and a fixed budget under a short workload. It does not establish capacity, historical regression percentages, or zero downtime. Future work could add representative traffic, longer tests, a persistent deployment target, and monitoring after release. Presenter A covers the API and k6 criteria. Presenter B covers the pipeline, Docker and CI.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ceb26e2bb64b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68d35eef424a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9251748fd04b9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08c13437894d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746b9fc8a8455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1b7aa0a2ee45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A20037-D178-4397-979E-50EB3E1887D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AAE407B-BE0A-4EF1-88C1-356BEB668FC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BC4C37E-A509-41CE-B4D5-6B48D8540A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C4051D-F889-4DAE-BB13-9FFFEA2FB8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80FBCB-AD03-426D-BDA3-130799E7BD4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0B6C5E6-CABC-4BD5-92F6-1310E9721C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395A20-6EEB-4887-BFF7-3C5CE47812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8F531F8-0F91-4414-9CCB-CAC5B11DDD6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9FF6B2-EA9F-4852-A469-AA7BBBF981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8A8E1E-1EAF-4652-87BE-3EF42EBD3F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3ed391e600340c3" /><Relationship Type="http://schemas.openxmlformats.org/officeDocument/2006/relationships/slideLayout" Target="/ppt/slideLayouts/slideLayout1.xml" Id="R2454142e33d148ce" /><Relationship Type="http://schemas.openxmlformats.org/officeDocument/2006/relationships/slideLayout" Target="/ppt/slideLayouts/slideLayout2.xml" Id="Rd3a03a85a07e45f9" /><Relationship Type="http://schemas.openxmlformats.org/officeDocument/2006/relationships/slideLayout" Target="/ppt/slideLayouts/slideLayout3.xml" Id="Re3f8ed8fdbd7422b" /><Relationship Type="http://schemas.openxmlformats.org/officeDocument/2006/relationships/slideLayout" Target="/ppt/slideLayouts/slideLayout4.xml" Id="R9efc760a5208417c" /><Relationship Type="http://schemas.openxmlformats.org/officeDocument/2006/relationships/slideLayout" Target="/ppt/slideLayouts/slideLayout5.xml" Id="R53574aa5778d4b70" /><Relationship Type="http://schemas.openxmlformats.org/officeDocument/2006/relationships/slideLayout" Target="/ppt/slideLayouts/slideLayout6.xml" Id="R9eb4b39868ad45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54142e33d148ce"/>
    <p:sldLayoutId xmlns:r="http://schemas.openxmlformats.org/officeDocument/2006/relationships" id="2147483650" r:id="Rd3a03a85a07e45f9"/>
    <p:sldLayoutId xmlns:r="http://schemas.openxmlformats.org/officeDocument/2006/relationships" id="2147483651" r:id="Re3f8ed8fdbd7422b"/>
    <p:sldLayoutId xmlns:r="http://schemas.openxmlformats.org/officeDocument/2006/relationships" id="2147483652" r:id="R9efc760a5208417c"/>
    <p:sldLayoutId xmlns:r="http://schemas.openxmlformats.org/officeDocument/2006/relationships" id="2147483653" r:id="R53574aa5778d4b70"/>
    <p:sldLayoutId xmlns:r="http://schemas.openxmlformats.org/officeDocument/2006/relationships" id="2147483654" r:id="R9eb4b39868ad45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a031e234884045" /><Relationship Type="http://schemas.openxmlformats.org/officeDocument/2006/relationships/notesSlide" Target="/ppt/notesSlides/notesSlide1.xml" Id="R7e7b17b542214c2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0684452f744e40" /><Relationship Type="http://schemas.openxmlformats.org/officeDocument/2006/relationships/notesSlide" Target="/ppt/notesSlides/notesSlide2.xml" Id="R395982c1ab3649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a2dca04f6241d8" /><Relationship Type="http://schemas.openxmlformats.org/officeDocument/2006/relationships/notesSlide" Target="/ppt/notesSlides/notesSlide3.xml" Id="Rd267b4458e274b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3a200c2b5c442f0" /><Relationship Type="http://schemas.openxmlformats.org/officeDocument/2006/relationships/notesSlide" Target="/ppt/notesSlides/notesSlide4.xml" Id="R513f0f5d52d440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bf6bd6a5eb49fb" /><Relationship Type="http://schemas.openxmlformats.org/officeDocument/2006/relationships/notesSlide" Target="/ppt/notesSlides/notesSlide5.xml" Id="R1e3a41bcbdea4b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a740044148c4e1b" /><Relationship Type="http://schemas.openxmlformats.org/officeDocument/2006/relationships/notesSlide" Target="/ppt/notesSlides/notesSlide6.xml" Id="R929441653c6c47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8ac697d92f64a82" /><Relationship Type="http://schemas.openxmlformats.org/officeDocument/2006/relationships/notesSlide" Target="/ppt/notesSlides/notesSlide7.xml" Id="R96cbce591d7e4c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9cd58278f39452c" /><Relationship Type="http://schemas.openxmlformats.org/officeDocument/2006/relationships/notesSlide" Target="/ppt/notesSlides/notesSlide8.xml" Id="Ra4ecf408acf14a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91b4bf728bd405d" /><Relationship Type="http://schemas.openxmlformats.org/officeDocument/2006/relationships/notesSlide" Target="/ppt/notesSlides/notesSlide9.xml" Id="Rabd44ef454ef47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e9dfc89a08045aa" /><Relationship Type="http://schemas.openxmlformats.org/officeDocument/2006/relationships/notesSlide" Target="/ppt/notesSlides/notesSlide10.xml" Id="R9acce6b6dc244f4e" /></Relationships>
</file>

<file path=ppt/slides/slide1.xml><?xml version="1.0" encoding="utf-8"?>
<p:sld xmlns:p="http://schemas.openxmlformats.org/presentationml/2006/main">
  <p:cSld>
    <p:bg>
      <p:bgPr>
        <a:solidFill xmlns:a="http://schemas.openxmlformats.org/drawingml/2006/main">
          <a:srgbClr val="16243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1924139-9A24-4462-9099-FF1CA393A7A8}"/>
              </a:ext>
            </a:extLst>
          </p:cNvPr>
          <p:cNvSpPr>
            <a:spLocks xmlns:a="http://schemas.openxmlformats.org/drawingml/2006/main" noGrp="1"/>
          </p:cNvSpPr>
          <p:nvPr/>
        </p:nvSpPr>
        <p:spPr>
          <a:xfrm xmlns:a="http://schemas.openxmlformats.org/drawingml/2006/main">
            <a:off x="685800" y="1333500"/>
            <a:ext cx="10572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350" b="1">
                <a:solidFill>
                  <a:srgbClr val="FFFFFF"/>
                </a:solidFill>
                <a:latin typeface="Arial"/>
                <a:ea typeface="Arial"/>
                <a:cs typeface="Arial"/>
              </a:defRPr>
            </a:def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Automated Performance Testing</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and Deployment Gating</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using k6</a:t>
            </a:r>
          </a:p>
        </p:txBody>
      </p:sp>
      <p:sp>
        <p:nvSpPr>
          <p:cNvPr id="2" name="">
            <a:extLst xmlns:a="http://schemas.openxmlformats.org/drawingml/2006/main">
              <a:ext uri="{FF2B5EF4-FFF2-40B4-BE49-F238E27FC236}">
                <a16:creationId xmlns:a16="http://schemas.microsoft.com/office/drawing/2014/main" id="{0C9D5F34-7190-418E-BFAB-9512F0B81794}"/>
              </a:ext>
            </a:extLst>
          </p:cNvPr>
          <p:cNvSpPr>
            <a:spLocks xmlns:a="http://schemas.openxmlformats.org/drawingml/2006/main" noGrp="1"/>
          </p:cNvSpPr>
          <p:nvPr/>
        </p:nvSpPr>
        <p:spPr>
          <a:xfrm xmlns:a="http://schemas.openxmlformats.org/drawingml/2006/main">
            <a:off x="723900" y="45529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BECBE0"/>
                </a:solidFill>
                <a:latin typeface="Arial"/>
                <a:ea typeface="Arial"/>
                <a:cs typeface="Arial"/>
              </a:defRPr>
            </a:defPPr>
          </a:lstStyle>
          <a:p xmlns:a="http://schemas.openxmlformats.org/drawingml/2006/main">
            <a:pPr>
              <a:defRPr sz="2250" b="0">
                <a:solidFill>
                  <a:srgbClr val="BECBE0"/>
                </a:solidFill>
                <a:latin typeface="Arial"/>
                <a:ea typeface="Arial"/>
                <a:cs typeface="Arial"/>
              </a:defRPr>
            </a:pPr>
            <a:r>
              <a:rPr sz="2250" b="0">
                <a:solidFill>
                  <a:srgbClr val="BECBE0"/>
                </a:solidFill>
                <a:latin typeface="Arial"/>
                <a:ea typeface="Arial"/>
                <a:cs typeface="Arial"/>
              </a:rPr>
              <a:t>DevOps Lab CA</a:t>
            </a:r>
          </a:p>
        </p:txBody>
      </p:sp>
      <p:sp>
        <p:nvSpPr>
          <p:cNvPr id="3" name="">
            <a:extLst xmlns:a="http://schemas.openxmlformats.org/drawingml/2006/main">
              <a:ext uri="{FF2B5EF4-FFF2-40B4-BE49-F238E27FC236}">
                <a16:creationId xmlns:a16="http://schemas.microsoft.com/office/drawing/2014/main" id="{923A56A3-91ED-4799-8714-3E30D11C3F8B}"/>
              </a:ext>
            </a:extLst>
          </p:cNvPr>
          <p:cNvSpPr>
            <a:spLocks xmlns:a="http://schemas.openxmlformats.org/drawingml/2006/main" noGrp="1"/>
          </p:cNvSpPr>
          <p:nvPr/>
        </p:nvSpPr>
        <p:spPr>
          <a:xfrm xmlns:a="http://schemas.openxmlformats.org/drawingml/2006/main">
            <a:off x="723900" y="52197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BECBE0"/>
                </a:solidFill>
                <a:latin typeface="Arial"/>
                <a:ea typeface="Arial"/>
                <a:cs typeface="Arial"/>
              </a:defRPr>
            </a:defPPr>
          </a:lstStyle>
          <a:p xmlns:a="http://schemas.openxmlformats.org/drawingml/2006/main">
            <a:pPr>
              <a:defRPr sz="2100" b="0">
                <a:solidFill>
                  <a:srgbClr val="BECBE0"/>
                </a:solidFill>
                <a:latin typeface="Arial"/>
                <a:ea typeface="Arial"/>
                <a:cs typeface="Arial"/>
              </a:defRPr>
            </a:pPr>
            <a:r>
              <a:rPr sz="2100" b="0">
                <a:solidFill>
                  <a:srgbClr val="BECBE0"/>
                </a:solidFill>
                <a:latin typeface="Arial"/>
                <a:ea typeface="Arial"/>
                <a:cs typeface="Arial"/>
              </a:rPr>
              <a:t>A release must pass the performance test before deployment.</a:t>
            </a:r>
          </a:p>
        </p:txBody>
      </p:sp>
    </p:spTree>
    <p:extLst>
      <p:ext uri="{BB962C8B-B14F-4D97-AF65-F5344CB8AC3E}">
        <p14:creationId xmlns:p14="http://schemas.microsoft.com/office/powerpoint/2010/main" val="678453318"/>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337F375-BACA-4821-BDD7-F0AFAC085162}"/>
              </a:ext>
            </a:extLst>
          </p:cNvPr>
          <p:cNvSpPr>
            <a:spLocks xmlns:a="http://schemas.openxmlformats.org/drawingml/2006/main" noGrp="1"/>
          </p:cNvSpPr>
          <p:nvPr/>
        </p:nvSpPr>
        <p:spPr>
          <a:xfrm xmlns:a="http://schemas.openxmlformats.org/drawingml/2006/main">
            <a:off x="685800" y="4572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6243B"/>
                </a:solidFill>
                <a:latin typeface="Arial"/>
                <a:ea typeface="Arial"/>
                <a:cs typeface="Arial"/>
              </a:defRPr>
            </a:defPPr>
          </a:lstStyle>
          <a:p xmlns:a="http://schemas.openxmlformats.org/drawingml/2006/main">
            <a:pPr>
              <a:defRPr sz="3300" b="1">
                <a:solidFill>
                  <a:srgbClr val="16243B"/>
                </a:solidFill>
                <a:latin typeface="Arial"/>
                <a:ea typeface="Arial"/>
                <a:cs typeface="Arial"/>
              </a:defRPr>
            </a:pPr>
            <a:r>
              <a:rPr sz="3300" b="1">
                <a:solidFill>
                  <a:srgbClr val="16243B"/>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1476E3A7-3B16-47E7-AF0C-F7865A4478B5}"/>
              </a:ext>
            </a:extLst>
          </p:cNvPr>
          <p:cNvSpPr>
            <a:spLocks xmlns:a="http://schemas.openxmlformats.org/drawingml/2006/main" noGrp="1"/>
          </p:cNvSpPr>
          <p:nvPr/>
        </p:nvSpPr>
        <p:spPr>
          <a:xfrm xmlns:a="http://schemas.openxmlformats.org/drawingml/2006/main">
            <a:off x="11144250" y="63341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27188"/>
                </a:solidFill>
                <a:latin typeface="Arial"/>
                <a:ea typeface="Arial"/>
                <a:cs typeface="Arial"/>
              </a:defRPr>
            </a:defPPr>
          </a:lstStyle>
          <a:p xmlns:a="http://schemas.openxmlformats.org/drawingml/2006/main">
            <a:pPr>
              <a:defRPr sz="1350" b="0">
                <a:solidFill>
                  <a:srgbClr val="627188"/>
                </a:solidFill>
                <a:latin typeface="Arial"/>
                <a:ea typeface="Arial"/>
                <a:cs typeface="Arial"/>
              </a:defRPr>
            </a:pPr>
            <a:r>
              <a:rPr sz="1350" b="0">
                <a:solidFill>
                  <a:srgbClr val="62718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687C65C-2CED-49DA-8749-BA9D4D33B51C}"/>
              </a:ext>
            </a:extLst>
          </p:cNvPr>
          <p:cNvSpPr>
            <a:spLocks xmlns:a="http://schemas.openxmlformats.org/drawingml/2006/main" noGrp="1"/>
          </p:cNvSpPr>
          <p:nvPr/>
        </p:nvSpPr>
        <p:spPr>
          <a:xfrm xmlns:a="http://schemas.openxmlformats.org/drawingml/2006/main">
            <a:off x="685800" y="1809750"/>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345FE8"/>
                </a:solidFill>
                <a:latin typeface="Arial"/>
                <a:ea typeface="Arial"/>
                <a:cs typeface="Arial"/>
              </a:defRPr>
            </a:defPPr>
          </a:lstStyle>
          <a:p xmlns:a="http://schemas.openxmlformats.org/drawingml/2006/main">
            <a:pPr>
              <a:defRPr sz="3600" b="1">
                <a:solidFill>
                  <a:srgbClr val="345FE8"/>
                </a:solidFill>
                <a:latin typeface="Arial"/>
                <a:ea typeface="Arial"/>
                <a:cs typeface="Arial"/>
              </a:defRPr>
            </a:pPr>
            <a:r>
              <a:rPr sz="3600" b="1">
                <a:solidFill>
                  <a:srgbClr val="345FE8"/>
                </a:solidFill>
                <a:latin typeface="Arial"/>
                <a:ea typeface="Arial"/>
                <a:cs typeface="Arial"/>
              </a:rPr>
              <a:t>Correct output can still arrive too slowly.</a:t>
            </a:r>
          </a:p>
        </p:txBody>
      </p:sp>
      <p:sp>
        <p:nvSpPr>
          <p:cNvPr id="4" name="">
            <a:extLst xmlns:a="http://schemas.openxmlformats.org/drawingml/2006/main">
              <a:ext uri="{FF2B5EF4-FFF2-40B4-BE49-F238E27FC236}">
                <a16:creationId xmlns:a16="http://schemas.microsoft.com/office/drawing/2014/main" id="{FC724070-AFF4-47AA-A1FA-AB341D61B88A}"/>
              </a:ext>
            </a:extLst>
          </p:cNvPr>
          <p:cNvSpPr>
            <a:spLocks xmlns:a="http://schemas.openxmlformats.org/drawingml/2006/main" noGrp="1"/>
          </p:cNvSpPr>
          <p:nvPr/>
        </p:nvSpPr>
        <p:spPr>
          <a:xfrm xmlns:a="http://schemas.openxmlformats.org/drawingml/2006/main">
            <a:off x="685800" y="3286125"/>
            <a:ext cx="1019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16243B"/>
                </a:solidFill>
                <a:latin typeface="Arial"/>
                <a:ea typeface="Arial"/>
                <a:cs typeface="Arial"/>
              </a:defRPr>
            </a:defPPr>
          </a:lstStyle>
          <a:p xmlns:a="http://schemas.openxmlformats.org/drawingml/2006/main">
            <a:pPr>
              <a:defRPr sz="2550" b="0">
                <a:solidFill>
                  <a:srgbClr val="16243B"/>
                </a:solidFill>
                <a:latin typeface="Arial"/>
                <a:ea typeface="Arial"/>
                <a:cs typeface="Arial"/>
              </a:defRPr>
            </a:pPr>
            <a:r>
              <a:rPr sz="2550" b="0">
                <a:solidFill>
                  <a:srgbClr val="16243B"/>
                </a:solidFill>
                <a:latin typeface="Arial"/>
                <a:ea typeface="Arial"/>
                <a:cs typeface="Arial"/>
              </a:rPr>
              <a:t>A release can return HTTP 200 and valid product data</a:t>
            </a:r>
          </a:p>
          <a:p xmlns:a="http://schemas.openxmlformats.org/drawingml/2006/main">
            <a:pPr>
              <a:defRPr sz="2550" b="0">
                <a:solidFill>
                  <a:srgbClr val="16243B"/>
                </a:solidFill>
                <a:latin typeface="Arial"/>
                <a:ea typeface="Arial"/>
                <a:cs typeface="Arial"/>
              </a:defRPr>
            </a:pPr>
            <a:r>
              <a:rPr sz="2550" b="0">
                <a:solidFill>
                  <a:srgbClr val="16243B"/>
                </a:solidFill>
                <a:latin typeface="Arial"/>
                <a:ea typeface="Arial"/>
                <a:cs typeface="Arial"/>
              </a:rPr>
              <a:t>while failing the response-time requirement.</a:t>
            </a:r>
          </a:p>
        </p:txBody>
      </p:sp>
      <p:sp>
        <p:nvSpPr>
          <p:cNvPr id="5" name="">
            <a:extLst xmlns:a="http://schemas.openxmlformats.org/drawingml/2006/main">
              <a:ext uri="{FF2B5EF4-FFF2-40B4-BE49-F238E27FC236}">
                <a16:creationId xmlns:a16="http://schemas.microsoft.com/office/drawing/2014/main" id="{F5F1A1F9-056D-4390-B568-A61094D6B04F}"/>
              </a:ext>
            </a:extLst>
          </p:cNvPr>
          <p:cNvSpPr>
            <a:spLocks xmlns:a="http://schemas.openxmlformats.org/drawingml/2006/main" noGrp="1"/>
          </p:cNvSpPr>
          <p:nvPr/>
        </p:nvSpPr>
        <p:spPr>
          <a:xfrm xmlns:a="http://schemas.openxmlformats.org/drawingml/2006/main">
            <a:off x="685800" y="4953000"/>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16243B"/>
                </a:solidFill>
                <a:latin typeface="Arial"/>
                <a:ea typeface="Arial"/>
                <a:cs typeface="Arial"/>
              </a:defRPr>
            </a:defPPr>
          </a:lstStyle>
          <a:p xmlns:a="http://schemas.openxmlformats.org/drawingml/2006/main">
            <a:pPr>
              <a:defRPr sz="2550" b="0">
                <a:solidFill>
                  <a:srgbClr val="16243B"/>
                </a:solidFill>
                <a:latin typeface="Arial"/>
                <a:ea typeface="Arial"/>
                <a:cs typeface="Arial"/>
              </a:defRPr>
            </a:pPr>
            <a:r>
              <a:rPr sz="2550" b="0">
                <a:solidFill>
                  <a:srgbClr val="16243B"/>
                </a:solidFill>
                <a:latin typeface="Arial"/>
                <a:ea typeface="Arial"/>
                <a:cs typeface="Arial"/>
              </a:rPr>
              <a:t>Our pipeline tests the candidate before it replaces</a:t>
            </a:r>
          </a:p>
          <a:p xmlns:a="http://schemas.openxmlformats.org/drawingml/2006/main">
            <a:pPr>
              <a:defRPr sz="2550" b="0">
                <a:solidFill>
                  <a:srgbClr val="16243B"/>
                </a:solidFill>
                <a:latin typeface="Arial"/>
                <a:ea typeface="Arial"/>
                <a:cs typeface="Arial"/>
              </a:defRPr>
            </a:pPr>
            <a:r>
              <a:rPr sz="2550" b="0">
                <a:solidFill>
                  <a:srgbClr val="16243B"/>
                </a:solidFill>
                <a:latin typeface="Arial"/>
                <a:ea typeface="Arial"/>
                <a:cs typeface="Arial"/>
              </a:rPr>
              <a:t>the running application.</a:t>
            </a:r>
          </a:p>
        </p:txBody>
      </p:sp>
    </p:spTree>
    <p:extLst>
      <p:ext uri="{BB962C8B-B14F-4D97-AF65-F5344CB8AC3E}">
        <p14:creationId xmlns:p14="http://schemas.microsoft.com/office/powerpoint/2010/main" val="1829461583"/>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7F5A521-AF07-4344-9D09-2CFE04BB67E8}"/>
              </a:ext>
            </a:extLst>
          </p:cNvPr>
          <p:cNvSpPr>
            <a:spLocks xmlns:a="http://schemas.openxmlformats.org/drawingml/2006/main" noGrp="1"/>
          </p:cNvSpPr>
          <p:nvPr/>
        </p:nvSpPr>
        <p:spPr>
          <a:xfrm xmlns:a="http://schemas.openxmlformats.org/drawingml/2006/main">
            <a:off x="685800" y="4572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6243B"/>
                </a:solidFill>
                <a:latin typeface="Arial"/>
                <a:ea typeface="Arial"/>
                <a:cs typeface="Arial"/>
              </a:defRPr>
            </a:defPPr>
          </a:lstStyle>
          <a:p xmlns:a="http://schemas.openxmlformats.org/drawingml/2006/main">
            <a:pPr>
              <a:defRPr sz="3300" b="1">
                <a:solidFill>
                  <a:srgbClr val="16243B"/>
                </a:solidFill>
                <a:latin typeface="Arial"/>
                <a:ea typeface="Arial"/>
                <a:cs typeface="Arial"/>
              </a:defRPr>
            </a:pPr>
            <a:r>
              <a:rPr sz="3300" b="1">
                <a:solidFill>
                  <a:srgbClr val="16243B"/>
                </a:solidFill>
                <a:latin typeface="Arial"/>
                <a:ea typeface="Arial"/>
                <a:cs typeface="Arial"/>
              </a:rPr>
              <a:t>Project components</a:t>
            </a:r>
          </a:p>
        </p:txBody>
      </p:sp>
      <p:sp>
        <p:nvSpPr>
          <p:cNvPr id="2" name="">
            <a:extLst xmlns:a="http://schemas.openxmlformats.org/drawingml/2006/main">
              <a:ext uri="{FF2B5EF4-FFF2-40B4-BE49-F238E27FC236}">
                <a16:creationId xmlns:a16="http://schemas.microsoft.com/office/drawing/2014/main" id="{5C4EFD80-120D-4B6C-95C5-DE532B4093C1}"/>
              </a:ext>
            </a:extLst>
          </p:cNvPr>
          <p:cNvSpPr>
            <a:spLocks xmlns:a="http://schemas.openxmlformats.org/drawingml/2006/main" noGrp="1"/>
          </p:cNvSpPr>
          <p:nvPr/>
        </p:nvSpPr>
        <p:spPr>
          <a:xfrm xmlns:a="http://schemas.openxmlformats.org/drawingml/2006/main">
            <a:off x="11144250" y="63341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27188"/>
                </a:solidFill>
                <a:latin typeface="Arial"/>
                <a:ea typeface="Arial"/>
                <a:cs typeface="Arial"/>
              </a:defRPr>
            </a:defPPr>
          </a:lstStyle>
          <a:p xmlns:a="http://schemas.openxmlformats.org/drawingml/2006/main">
            <a:pPr>
              <a:defRPr sz="1350" b="0">
                <a:solidFill>
                  <a:srgbClr val="627188"/>
                </a:solidFill>
                <a:latin typeface="Arial"/>
                <a:ea typeface="Arial"/>
                <a:cs typeface="Arial"/>
              </a:defRPr>
            </a:pPr>
            <a:r>
              <a:rPr sz="1350" b="0">
                <a:solidFill>
                  <a:srgbClr val="627188"/>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7FDDE582-0141-4427-8537-4EF12FC32AB7}"/>
              </a:ext>
            </a:extLst>
          </p:cNvPr>
          <p:cNvGraphicFramePr/>
          <p:nvPr/>
        </p:nvGraphicFramePr>
        <p:xfrm>
          <a:off xmlns:a="http://schemas.openxmlformats.org/drawingml/2006/main" x="685800" y="1714500"/>
          <a:ext xmlns:a="http://schemas.openxmlformats.org/drawingml/2006/main" cx="10820400" cy="4000500"/>
        </p:xfrm>
        <a:graphic xmlns:a="http://schemas.openxmlformats.org/drawingml/2006/main">
          <a:graphicData uri="http://schemas.openxmlformats.org/drawingml/2006/table">
            <a:tbl>
              <a:tblPr/>
              <a:tblGrid>
                <a:gridCol w="3476625"/>
                <a:gridCol w="7343775"/>
              </a:tblGrid>
              <a:tr h="666750">
                <a:tc>
                  <a:txBody>
                    <a:bodyPr/>
                    <a:lstStyle/>
                    <a:p>
                      <a:r>
                        <a:rPr sz="2025" b="1">
                          <a:solidFill>
                            <a:srgbClr val="FFFFFF"/>
                          </a:solidFill>
                          <a:latin typeface="Arial"/>
                          <a:ea typeface="Arial"/>
                          <a:cs typeface="Arial"/>
                        </a:rPr>
                        <a:t>Component</a:t>
                      </a:r>
                    </a:p>
                  </a:txBody>
                  <a:tcPr marL="91440" marR="91440" marT="45720" marB="45720">
                    <a:lnL w="9525">
                      <a:solidFill>
                        <a:srgbClr val="E2E8F0"/>
                      </a:solidFill>
                      <a:prstDash val="solid"/>
                    </a:lnL>
                    <a:lnR w="9525">
                      <a:solidFill>
                        <a:srgbClr val="E2E8F0"/>
                      </a:solidFill>
                      <a:prstDash val="solid"/>
                    </a:lnR>
                    <a:lnT w="9525">
                      <a:solidFill>
                        <a:srgbClr val="E2E8F0"/>
                      </a:solidFill>
                      <a:prstDash val="solid"/>
                    </a:lnT>
                    <a:lnB w="9525">
                      <a:solidFill>
                        <a:srgbClr val="E2E8F0"/>
                      </a:solidFill>
                      <a:prstDash val="solid"/>
                    </a:lnB>
                    <a:solidFill>
                      <a:srgbClr val="16243B"/>
                    </a:solidFill>
                  </a:tcPr>
                </a:tc>
                <a:tc>
                  <a:txBody>
                    <a:bodyPr/>
                    <a:lstStyle/>
                    <a:p>
                      <a:r>
                        <a:rPr sz="2025" b="1">
                          <a:solidFill>
                            <a:srgbClr val="FFFFFF"/>
                          </a:solidFill>
                          <a:latin typeface="Arial"/>
                          <a:ea typeface="Arial"/>
                          <a:cs typeface="Arial"/>
                        </a:rPr>
                        <a:t>Role</a:t>
                      </a:r>
                    </a:p>
                  </a:txBody>
                  <a:tcPr marL="91440" marR="91440" marT="45720" marB="45720">
                    <a:lnR w="9525">
                      <a:solidFill>
                        <a:srgbClr val="E2E8F0"/>
                      </a:solidFill>
                      <a:prstDash val="solid"/>
                    </a:lnR>
                    <a:lnT w="9525">
                      <a:solidFill>
                        <a:srgbClr val="E2E8F0"/>
                      </a:solidFill>
                      <a:prstDash val="solid"/>
                    </a:lnT>
                    <a:lnB w="9525">
                      <a:solidFill>
                        <a:srgbClr val="E2E8F0"/>
                      </a:solidFill>
                      <a:prstDash val="solid"/>
                    </a:lnB>
                    <a:solidFill>
                      <a:srgbClr val="16243B"/>
                    </a:solidFill>
                  </a:tcPr>
                </a:tc>
              </a:tr>
              <a:tr h="666750">
                <a:tc>
                  <a:txBody>
                    <a:bodyPr/>
                    <a:lstStyle/>
                    <a:p>
                      <a:r>
                        <a:rPr sz="2025" b="0">
                          <a:solidFill>
                            <a:srgbClr val="16243B"/>
                          </a:solidFill>
                          <a:latin typeface="Arial"/>
                          <a:ea typeface="Arial"/>
                          <a:cs typeface="Arial"/>
                        </a:rPr>
                        <a:t>Node.js application</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Product catalogue and /api/products API</a:t>
                      </a:r>
                    </a:p>
                  </a:txBody>
                  <a:tcPr marL="91440" marR="91440" marT="45720" marB="45720">
                    <a:lnR w="9525">
                      <a:solidFill>
                        <a:srgbClr val="E2E8F0"/>
                      </a:solidFill>
                      <a:prstDash val="solid"/>
                    </a:lnR>
                    <a:lnB w="9525">
                      <a:solidFill>
                        <a:srgbClr val="E2E8F0"/>
                      </a:solidFill>
                      <a:prstDash val="solid"/>
                    </a:lnB>
                    <a:solidFill>
                      <a:srgbClr val="FFFFFF"/>
                    </a:solidFill>
                  </a:tcPr>
                </a:tc>
              </a:tr>
              <a:tr h="666750">
                <a:tc>
                  <a:txBody>
                    <a:bodyPr/>
                    <a:lstStyle/>
                    <a:p>
                      <a:r>
                        <a:rPr sz="2025" b="0">
                          <a:solidFill>
                            <a:srgbClr val="16243B"/>
                          </a:solidFill>
                          <a:latin typeface="Arial"/>
                          <a:ea typeface="Arial"/>
                          <a:cs typeface="Arial"/>
                        </a:rPr>
                        <a:t>Staging :3001</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Candidate release under test</a:t>
                      </a:r>
                    </a:p>
                  </a:txBody>
                  <a:tcPr marL="91440" marR="91440" marT="45720" marB="45720">
                    <a:lnR w="9525">
                      <a:solidFill>
                        <a:srgbClr val="E2E8F0"/>
                      </a:solidFill>
                      <a:prstDash val="solid"/>
                    </a:lnR>
                    <a:lnB w="9525">
                      <a:solidFill>
                        <a:srgbClr val="E2E8F0"/>
                      </a:solidFill>
                      <a:prstDash val="solid"/>
                    </a:lnB>
                    <a:solidFill>
                      <a:srgbClr val="FFFFFF"/>
                    </a:solidFill>
                  </a:tcPr>
                </a:tc>
              </a:tr>
              <a:tr h="666750">
                <a:tc>
                  <a:txBody>
                    <a:bodyPr/>
                    <a:lstStyle/>
                    <a:p>
                      <a:r>
                        <a:rPr sz="2025" b="0">
                          <a:solidFill>
                            <a:srgbClr val="16243B"/>
                          </a:solidFill>
                          <a:latin typeface="Arial"/>
                          <a:ea typeface="Arial"/>
                          <a:cs typeface="Arial"/>
                        </a:rPr>
                        <a:t>k6</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Real HTTP requests and pass/fail thresholds</a:t>
                      </a:r>
                    </a:p>
                  </a:txBody>
                  <a:tcPr marL="91440" marR="91440" marT="45720" marB="45720">
                    <a:lnR w="9525">
                      <a:solidFill>
                        <a:srgbClr val="E2E8F0"/>
                      </a:solidFill>
                      <a:prstDash val="solid"/>
                    </a:lnR>
                    <a:lnB w="9525">
                      <a:solidFill>
                        <a:srgbClr val="E2E8F0"/>
                      </a:solidFill>
                      <a:prstDash val="solid"/>
                    </a:lnB>
                    <a:solidFill>
                      <a:srgbClr val="FFFFFF"/>
                    </a:solidFill>
                  </a:tcPr>
                </a:tc>
              </a:tr>
              <a:tr h="666750">
                <a:tc>
                  <a:txBody>
                    <a:bodyPr/>
                    <a:lstStyle/>
                    <a:p>
                      <a:r>
                        <a:rPr sz="2025" b="0">
                          <a:solidFill>
                            <a:srgbClr val="16243B"/>
                          </a:solidFill>
                          <a:latin typeface="Arial"/>
                          <a:ea typeface="Arial"/>
                          <a:cs typeface="Arial"/>
                        </a:rPr>
                        <a:t>Production :3100</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Most recent accepted release</a:t>
                      </a:r>
                    </a:p>
                  </a:txBody>
                  <a:tcPr marL="91440" marR="91440" marT="45720" marB="45720">
                    <a:lnR w="9525">
                      <a:solidFill>
                        <a:srgbClr val="E2E8F0"/>
                      </a:solidFill>
                      <a:prstDash val="solid"/>
                    </a:lnR>
                    <a:lnB w="9525">
                      <a:solidFill>
                        <a:srgbClr val="E2E8F0"/>
                      </a:solidFill>
                      <a:prstDash val="solid"/>
                    </a:lnB>
                    <a:solidFill>
                      <a:srgbClr val="FFFFFF"/>
                    </a:solidFill>
                  </a:tcPr>
                </a:tc>
              </a:tr>
              <a:tr h="666750">
                <a:tc>
                  <a:txBody>
                    <a:bodyPr/>
                    <a:lstStyle/>
                    <a:p>
                      <a:r>
                        <a:rPr sz="2025" b="0">
                          <a:solidFill>
                            <a:srgbClr val="16243B"/>
                          </a:solidFill>
                          <a:latin typeface="Arial"/>
                          <a:ea typeface="Arial"/>
                          <a:cs typeface="Arial"/>
                        </a:rPr>
                        <a:t>Docker + GitHub Actions</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Container packaging and CI automation</a:t>
                      </a:r>
                    </a:p>
                  </a:txBody>
                  <a:tcPr marL="91440" marR="91440" marT="45720" marB="45720">
                    <a:lnR w="9525">
                      <a:solidFill>
                        <a:srgbClr val="E2E8F0"/>
                      </a:solidFill>
                      <a:prstDash val="solid"/>
                    </a:lnR>
                    <a:lnB w="9525">
                      <a:solidFill>
                        <a:srgbClr val="E2E8F0"/>
                      </a:solidFill>
                      <a:prstDash val="solid"/>
                    </a:lnB>
                    <a:solidFill>
                      <a:srgbClr val="FFFFFF"/>
                    </a:solidFill>
                  </a:tcPr>
                </a:tc>
              </a:tr>
            </a:tbl>
          </a:graphicData>
        </a:graphic>
      </p:graphicFrame>
    </p:spTree>
    <p:extLst>
      <p:ext uri="{BB962C8B-B14F-4D97-AF65-F5344CB8AC3E}">
        <p14:creationId xmlns:p14="http://schemas.microsoft.com/office/powerpoint/2010/main" val="897331167"/>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DEFC61-9FCC-4708-81FD-DF294B6B19DB}"/>
              </a:ext>
            </a:extLst>
          </p:cNvPr>
          <p:cNvSpPr>
            <a:spLocks xmlns:a="http://schemas.openxmlformats.org/drawingml/2006/main" noGrp="1"/>
          </p:cNvSpPr>
          <p:nvPr/>
        </p:nvSpPr>
        <p:spPr>
          <a:xfrm xmlns:a="http://schemas.openxmlformats.org/drawingml/2006/main">
            <a:off x="685800" y="4572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6243B"/>
                </a:solidFill>
                <a:latin typeface="Arial"/>
                <a:ea typeface="Arial"/>
                <a:cs typeface="Arial"/>
              </a:defRPr>
            </a:defPPr>
          </a:lstStyle>
          <a:p xmlns:a="http://schemas.openxmlformats.org/drawingml/2006/main">
            <a:pPr>
              <a:defRPr sz="3300" b="1">
                <a:solidFill>
                  <a:srgbClr val="16243B"/>
                </a:solidFill>
                <a:latin typeface="Arial"/>
                <a:ea typeface="Arial"/>
                <a:cs typeface="Arial"/>
              </a:defRPr>
            </a:pPr>
            <a:r>
              <a:rPr sz="3300" b="1">
                <a:solidFill>
                  <a:srgbClr val="16243B"/>
                </a:solidFill>
                <a:latin typeface="Arial"/>
                <a:ea typeface="Arial"/>
                <a:cs typeface="Arial"/>
              </a:rPr>
              <a:t>k6 workload and acceptance criteria</a:t>
            </a:r>
          </a:p>
        </p:txBody>
      </p:sp>
      <p:sp>
        <p:nvSpPr>
          <p:cNvPr id="2" name="">
            <a:extLst xmlns:a="http://schemas.openxmlformats.org/drawingml/2006/main">
              <a:ext uri="{FF2B5EF4-FFF2-40B4-BE49-F238E27FC236}">
                <a16:creationId xmlns:a16="http://schemas.microsoft.com/office/drawing/2014/main" id="{B7EBC12F-A1CB-4EDE-ADBF-27864EFDF657}"/>
              </a:ext>
            </a:extLst>
          </p:cNvPr>
          <p:cNvSpPr>
            <a:spLocks xmlns:a="http://schemas.openxmlformats.org/drawingml/2006/main" noGrp="1"/>
          </p:cNvSpPr>
          <p:nvPr/>
        </p:nvSpPr>
        <p:spPr>
          <a:xfrm xmlns:a="http://schemas.openxmlformats.org/drawingml/2006/main">
            <a:off x="11144250" y="63341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27188"/>
                </a:solidFill>
                <a:latin typeface="Arial"/>
                <a:ea typeface="Arial"/>
                <a:cs typeface="Arial"/>
              </a:defRPr>
            </a:defPPr>
          </a:lstStyle>
          <a:p xmlns:a="http://schemas.openxmlformats.org/drawingml/2006/main">
            <a:pPr>
              <a:defRPr sz="1350" b="0">
                <a:solidFill>
                  <a:srgbClr val="627188"/>
                </a:solidFill>
                <a:latin typeface="Arial"/>
                <a:ea typeface="Arial"/>
                <a:cs typeface="Arial"/>
              </a:defRPr>
            </a:pPr>
            <a:r>
              <a:rPr sz="1350" b="0">
                <a:solidFill>
                  <a:srgbClr val="62718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F375201E-EA2D-4881-90BC-2CBC8F9DB26A}"/>
              </a:ext>
            </a:extLst>
          </p:cNvPr>
          <p:cNvSpPr>
            <a:spLocks xmlns:a="http://schemas.openxmlformats.org/drawingml/2006/main" noGrp="1"/>
          </p:cNvSpPr>
          <p:nvPr/>
        </p:nvSpPr>
        <p:spPr>
          <a:xfrm xmlns:a="http://schemas.openxmlformats.org/drawingml/2006/main">
            <a:off x="685800" y="1524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345FE8"/>
                </a:solidFill>
                <a:latin typeface="Arial"/>
                <a:ea typeface="Arial"/>
                <a:cs typeface="Arial"/>
              </a:defRPr>
            </a:defPPr>
          </a:lstStyle>
          <a:p xmlns:a="http://schemas.openxmlformats.org/drawingml/2006/main">
            <a:pPr>
              <a:defRPr sz="2550" b="1">
                <a:solidFill>
                  <a:srgbClr val="345FE8"/>
                </a:solidFill>
                <a:latin typeface="Arial"/>
                <a:ea typeface="Arial"/>
                <a:cs typeface="Arial"/>
              </a:defRPr>
            </a:pPr>
            <a:r>
              <a:rPr sz="2550" b="1">
                <a:solidFill>
                  <a:srgbClr val="345FE8"/>
                </a:solidFill>
                <a:latin typeface="Arial"/>
                <a:ea typeface="Arial"/>
                <a:cs typeface="Arial"/>
              </a:rPr>
              <a:t>10 virtual users for 15 seconds</a:t>
            </a:r>
          </a:p>
        </p:txBody>
      </p:sp>
      <p:graphicFrame>
        <p:nvGraphicFramePr>
          <p:cNvPr id="4" name="">
            <a:extLst xmlns:a="http://schemas.openxmlformats.org/drawingml/2006/main">
              <a:ext uri="{FF2B5EF4-FFF2-40B4-BE49-F238E27FC236}">
                <a16:creationId xmlns:a16="http://schemas.microsoft.com/office/drawing/2014/main" id="{A2608C6D-BE9E-425E-A448-0538494DB460}"/>
              </a:ext>
            </a:extLst>
          </p:cNvPr>
          <p:cNvGraphicFramePr/>
          <p:nvPr/>
        </p:nvGraphicFramePr>
        <p:xfrm>
          <a:off xmlns:a="http://schemas.openxmlformats.org/drawingml/2006/main" x="685800" y="2381250"/>
          <a:ext xmlns:a="http://schemas.openxmlformats.org/drawingml/2006/main" cx="10820400" cy="3143250"/>
        </p:xfrm>
        <a:graphic xmlns:a="http://schemas.openxmlformats.org/drawingml/2006/main">
          <a:graphicData uri="http://schemas.openxmlformats.org/drawingml/2006/table">
            <a:tbl>
              <a:tblPr/>
              <a:tblGrid>
                <a:gridCol w="5715000"/>
                <a:gridCol w="5105400"/>
              </a:tblGrid>
              <a:tr h="628650">
                <a:tc>
                  <a:txBody>
                    <a:bodyPr/>
                    <a:lstStyle/>
                    <a:p>
                      <a:r>
                        <a:rPr sz="2100" b="1">
                          <a:solidFill>
                            <a:srgbClr val="FFFFFF"/>
                          </a:solidFill>
                          <a:latin typeface="Arial"/>
                          <a:ea typeface="Arial"/>
                          <a:cs typeface="Arial"/>
                        </a:rPr>
                        <a:t>Metric</a:t>
                      </a:r>
                    </a:p>
                  </a:txBody>
                  <a:tcPr marL="91440" marR="91440" marT="45720" marB="45720">
                    <a:lnL w="9525">
                      <a:solidFill>
                        <a:srgbClr val="E2E8F0"/>
                      </a:solidFill>
                      <a:prstDash val="solid"/>
                    </a:lnL>
                    <a:lnR w="9525">
                      <a:solidFill>
                        <a:srgbClr val="E2E8F0"/>
                      </a:solidFill>
                      <a:prstDash val="solid"/>
                    </a:lnR>
                    <a:lnT w="9525">
                      <a:solidFill>
                        <a:srgbClr val="E2E8F0"/>
                      </a:solidFill>
                      <a:prstDash val="solid"/>
                    </a:lnT>
                    <a:lnB w="9525">
                      <a:solidFill>
                        <a:srgbClr val="E2E8F0"/>
                      </a:solidFill>
                      <a:prstDash val="solid"/>
                    </a:lnB>
                    <a:solidFill>
                      <a:srgbClr val="16243B"/>
                    </a:solidFill>
                  </a:tcPr>
                </a:tc>
                <a:tc>
                  <a:txBody>
                    <a:bodyPr/>
                    <a:lstStyle/>
                    <a:p>
                      <a:r>
                        <a:rPr sz="2100" b="1">
                          <a:solidFill>
                            <a:srgbClr val="FFFFFF"/>
                          </a:solidFill>
                          <a:latin typeface="Arial"/>
                          <a:ea typeface="Arial"/>
                          <a:cs typeface="Arial"/>
                        </a:rPr>
                        <a:t>Acceptance rule</a:t>
                      </a:r>
                    </a:p>
                  </a:txBody>
                  <a:tcPr marL="91440" marR="91440" marT="45720" marB="45720">
                    <a:lnR w="9525">
                      <a:solidFill>
                        <a:srgbClr val="E2E8F0"/>
                      </a:solidFill>
                      <a:prstDash val="solid"/>
                    </a:lnR>
                    <a:lnT w="9525">
                      <a:solidFill>
                        <a:srgbClr val="E2E8F0"/>
                      </a:solidFill>
                      <a:prstDash val="solid"/>
                    </a:lnT>
                    <a:lnB w="9525">
                      <a:solidFill>
                        <a:srgbClr val="E2E8F0"/>
                      </a:solidFill>
                      <a:prstDash val="solid"/>
                    </a:lnB>
                    <a:solidFill>
                      <a:srgbClr val="16243B"/>
                    </a:solidFill>
                  </a:tcPr>
                </a:tc>
              </a:tr>
              <a:tr h="628650">
                <a:tc>
                  <a:txBody>
                    <a:bodyPr/>
                    <a:lstStyle/>
                    <a:p>
                      <a:r>
                        <a:rPr sz="2100" b="0">
                          <a:solidFill>
                            <a:srgbClr val="16243B"/>
                          </a:solidFill>
                          <a:latin typeface="Arial"/>
                          <a:ea typeface="Arial"/>
                          <a:cs typeface="Arial"/>
                        </a:rPr>
                        <a:t>Product request duration</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100" b="0">
                          <a:solidFill>
                            <a:srgbClr val="16243B"/>
                          </a:solidFill>
                          <a:latin typeface="Arial"/>
                          <a:ea typeface="Arial"/>
                          <a:cs typeface="Arial"/>
                        </a:rPr>
                        <a:t>p95 &lt; 500 ms</a:t>
                      </a:r>
                    </a:p>
                  </a:txBody>
                  <a:tcPr marL="91440" marR="91440" marT="45720" marB="45720">
                    <a:lnR w="9525">
                      <a:solidFill>
                        <a:srgbClr val="E2E8F0"/>
                      </a:solidFill>
                      <a:prstDash val="solid"/>
                    </a:lnR>
                    <a:lnB w="9525">
                      <a:solidFill>
                        <a:srgbClr val="E2E8F0"/>
                      </a:solidFill>
                      <a:prstDash val="solid"/>
                    </a:lnB>
                    <a:solidFill>
                      <a:srgbClr val="FFFFFF"/>
                    </a:solidFill>
                  </a:tcPr>
                </a:tc>
              </a:tr>
              <a:tr h="628650">
                <a:tc>
                  <a:txBody>
                    <a:bodyPr/>
                    <a:lstStyle/>
                    <a:p>
                      <a:r>
                        <a:rPr sz="2100" b="0">
                          <a:solidFill>
                            <a:srgbClr val="16243B"/>
                          </a:solidFill>
                          <a:latin typeface="Arial"/>
                          <a:ea typeface="Arial"/>
                          <a:cs typeface="Arial"/>
                        </a:rPr>
                        <a:t>HTTP request failure rate</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100" b="0">
                          <a:solidFill>
                            <a:srgbClr val="16243B"/>
                          </a:solidFill>
                          <a:latin typeface="Arial"/>
                          <a:ea typeface="Arial"/>
                          <a:cs typeface="Arial"/>
                        </a:rPr>
                        <a:t>&lt; 1%</a:t>
                      </a:r>
                    </a:p>
                  </a:txBody>
                  <a:tcPr marL="91440" marR="91440" marT="45720" marB="45720">
                    <a:lnR w="9525">
                      <a:solidFill>
                        <a:srgbClr val="E2E8F0"/>
                      </a:solidFill>
                      <a:prstDash val="solid"/>
                    </a:lnR>
                    <a:lnB w="9525">
                      <a:solidFill>
                        <a:srgbClr val="E2E8F0"/>
                      </a:solidFill>
                      <a:prstDash val="solid"/>
                    </a:lnB>
                    <a:solidFill>
                      <a:srgbClr val="FFFFFF"/>
                    </a:solidFill>
                  </a:tcPr>
                </a:tc>
              </a:tr>
              <a:tr h="628650">
                <a:tc>
                  <a:txBody>
                    <a:bodyPr/>
                    <a:lstStyle/>
                    <a:p>
                      <a:r>
                        <a:rPr sz="2100" b="0">
                          <a:solidFill>
                            <a:srgbClr val="16243B"/>
                          </a:solidFill>
                          <a:latin typeface="Arial"/>
                          <a:ea typeface="Arial"/>
                          <a:cs typeface="Arial"/>
                        </a:rPr>
                        <a:t>Response checks</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100" b="0">
                          <a:solidFill>
                            <a:srgbClr val="16243B"/>
                          </a:solidFill>
                          <a:latin typeface="Arial"/>
                          <a:ea typeface="Arial"/>
                          <a:cs typeface="Arial"/>
                        </a:rPr>
                        <a:t>100% pass</a:t>
                      </a:r>
                    </a:p>
                  </a:txBody>
                  <a:tcPr marL="91440" marR="91440" marT="45720" marB="45720">
                    <a:lnR w="9525">
                      <a:solidFill>
                        <a:srgbClr val="E2E8F0"/>
                      </a:solidFill>
                      <a:prstDash val="solid"/>
                    </a:lnR>
                    <a:lnB w="9525">
                      <a:solidFill>
                        <a:srgbClr val="E2E8F0"/>
                      </a:solidFill>
                      <a:prstDash val="solid"/>
                    </a:lnB>
                    <a:solidFill>
                      <a:srgbClr val="FFFFFF"/>
                    </a:solidFill>
                  </a:tcPr>
                </a:tc>
              </a:tr>
              <a:tr h="628650">
                <a:tc>
                  <a:txBody>
                    <a:bodyPr/>
                    <a:lstStyle/>
                    <a:p>
                      <a:r>
                        <a:rPr sz="2100" b="0">
                          <a:solidFill>
                            <a:srgbClr val="16243B"/>
                          </a:solidFill>
                          <a:latin typeface="Arial"/>
                          <a:ea typeface="Arial"/>
                          <a:cs typeface="Arial"/>
                        </a:rPr>
                        <a:t>Request count</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100" b="0">
                          <a:solidFill>
                            <a:srgbClr val="16243B"/>
                          </a:solidFill>
                          <a:latin typeface="Arial"/>
                          <a:ea typeface="Arial"/>
                          <a:cs typeface="Arial"/>
                        </a:rPr>
                        <a:t>More than zero</a:t>
                      </a:r>
                    </a:p>
                  </a:txBody>
                  <a:tcPr marL="91440" marR="91440" marT="45720" marB="45720">
                    <a:lnR w="9525">
                      <a:solidFill>
                        <a:srgbClr val="E2E8F0"/>
                      </a:solidFill>
                      <a:prstDash val="solid"/>
                    </a:lnR>
                    <a:lnB w="9525">
                      <a:solidFill>
                        <a:srgbClr val="E2E8F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54CDD04-29BE-446F-BE1B-2F2E3E312494}"/>
              </a:ext>
            </a:extLst>
          </p:cNvPr>
          <p:cNvSpPr>
            <a:spLocks xmlns:a="http://schemas.openxmlformats.org/drawingml/2006/main" noGrp="1"/>
          </p:cNvSpPr>
          <p:nvPr/>
        </p:nvSpPr>
        <p:spPr>
          <a:xfrm xmlns:a="http://schemas.openxmlformats.org/drawingml/2006/main">
            <a:off x="685800" y="58674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27188"/>
                </a:solidFill>
                <a:latin typeface="Arial"/>
                <a:ea typeface="Arial"/>
                <a:cs typeface="Arial"/>
              </a:defRPr>
            </a:defPPr>
          </a:lstStyle>
          <a:p xmlns:a="http://schemas.openxmlformats.org/drawingml/2006/main">
            <a:pPr>
              <a:defRPr sz="1800" b="0">
                <a:solidFill>
                  <a:srgbClr val="627188"/>
                </a:solidFill>
                <a:latin typeface="Arial"/>
                <a:ea typeface="Arial"/>
                <a:cs typeface="Arial"/>
              </a:defRPr>
            </a:pPr>
            <a:r>
              <a:rPr sz="1800" b="0">
                <a:solidFill>
                  <a:srgbClr val="627188"/>
                </a:solidFill>
                <a:latin typeface="Arial"/>
                <a:ea typeface="Arial"/>
                <a:cs typeface="Arial"/>
              </a:rPr>
              <a:t>Checks cover HTTP 200, four products and the candidate release version.</a:t>
            </a:r>
          </a:p>
        </p:txBody>
      </p:sp>
    </p:spTree>
    <p:extLst>
      <p:ext uri="{BB962C8B-B14F-4D97-AF65-F5344CB8AC3E}">
        <p14:creationId xmlns:p14="http://schemas.microsoft.com/office/powerpoint/2010/main" val="1943188566"/>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D62A3A-1E74-4B34-BFB2-912AC9A28602}"/>
              </a:ext>
            </a:extLst>
          </p:cNvPr>
          <p:cNvSpPr>
            <a:spLocks xmlns:a="http://schemas.openxmlformats.org/drawingml/2006/main" noGrp="1"/>
          </p:cNvSpPr>
          <p:nvPr/>
        </p:nvSpPr>
        <p:spPr>
          <a:xfrm xmlns:a="http://schemas.openxmlformats.org/drawingml/2006/main">
            <a:off x="685800" y="4572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6243B"/>
                </a:solidFill>
                <a:latin typeface="Arial"/>
                <a:ea typeface="Arial"/>
                <a:cs typeface="Arial"/>
              </a:defRPr>
            </a:defPPr>
          </a:lstStyle>
          <a:p xmlns:a="http://schemas.openxmlformats.org/drawingml/2006/main">
            <a:pPr>
              <a:defRPr sz="3300" b="1">
                <a:solidFill>
                  <a:srgbClr val="16243B"/>
                </a:solidFill>
                <a:latin typeface="Arial"/>
                <a:ea typeface="Arial"/>
                <a:cs typeface="Arial"/>
              </a:defRPr>
            </a:pPr>
            <a:r>
              <a:rPr sz="3300" b="1">
                <a:solidFill>
                  <a:srgbClr val="16243B"/>
                </a:solidFill>
                <a:latin typeface="Arial"/>
                <a:ea typeface="Arial"/>
                <a:cs typeface="Arial"/>
              </a:rPr>
              <a:t>The automated deployment gate</a:t>
            </a:r>
          </a:p>
        </p:txBody>
      </p:sp>
      <p:sp>
        <p:nvSpPr>
          <p:cNvPr id="2" name="">
            <a:extLst xmlns:a="http://schemas.openxmlformats.org/drawingml/2006/main">
              <a:ext uri="{FF2B5EF4-FFF2-40B4-BE49-F238E27FC236}">
                <a16:creationId xmlns:a16="http://schemas.microsoft.com/office/drawing/2014/main" id="{3CF03A0F-98B5-49F2-BE95-12C7D10C565E}"/>
              </a:ext>
            </a:extLst>
          </p:cNvPr>
          <p:cNvSpPr>
            <a:spLocks xmlns:a="http://schemas.openxmlformats.org/drawingml/2006/main" noGrp="1"/>
          </p:cNvSpPr>
          <p:nvPr/>
        </p:nvSpPr>
        <p:spPr>
          <a:xfrm xmlns:a="http://schemas.openxmlformats.org/drawingml/2006/main">
            <a:off x="11144250" y="63341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27188"/>
                </a:solidFill>
                <a:latin typeface="Arial"/>
                <a:ea typeface="Arial"/>
                <a:cs typeface="Arial"/>
              </a:defRPr>
            </a:defPPr>
          </a:lstStyle>
          <a:p xmlns:a="http://schemas.openxmlformats.org/drawingml/2006/main">
            <a:pPr>
              <a:defRPr sz="1350" b="0">
                <a:solidFill>
                  <a:srgbClr val="627188"/>
                </a:solidFill>
                <a:latin typeface="Arial"/>
                <a:ea typeface="Arial"/>
                <a:cs typeface="Arial"/>
              </a:defRPr>
            </a:pPr>
            <a:r>
              <a:rPr sz="1350" b="0">
                <a:solidFill>
                  <a:srgbClr val="62718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B501543-FD33-41D8-8C27-6E2CD948147B}"/>
              </a:ext>
            </a:extLst>
          </p:cNvPr>
          <p:cNvSpPr>
            <a:spLocks xmlns:a="http://schemas.openxmlformats.org/drawingml/2006/main" noGrp="1"/>
          </p:cNvSpPr>
          <p:nvPr/>
        </p:nvSpPr>
        <p:spPr>
          <a:xfrm xmlns:a="http://schemas.openxmlformats.org/drawingml/2006/main">
            <a:off x="685800" y="1666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345FE8"/>
                </a:solidFill>
                <a:latin typeface="Arial"/>
                <a:ea typeface="Arial"/>
                <a:cs typeface="Arial"/>
              </a:defRPr>
            </a:defPPr>
          </a:lstStyle>
          <a:p xmlns:a="http://schemas.openxmlformats.org/drawingml/2006/main">
            <a:pPr>
              <a:defRPr sz="2550" b="1">
                <a:solidFill>
                  <a:srgbClr val="345FE8"/>
                </a:solidFill>
                <a:latin typeface="Arial"/>
                <a:ea typeface="Arial"/>
                <a:cs typeface="Arial"/>
              </a:defRPr>
            </a:pPr>
            <a:r>
              <a:rPr sz="2550" b="1">
                <a:solidFill>
                  <a:srgbClr val="345FE8"/>
                </a:solidFill>
                <a:latin typeface="Arial"/>
                <a:ea typeface="Arial"/>
                <a:cs typeface="Arial"/>
              </a:rPr>
              <a:t>Candidate snapshot</a:t>
            </a:r>
          </a:p>
        </p:txBody>
      </p:sp>
      <p:sp>
        <p:nvSpPr>
          <p:cNvPr id="4" name="">
            <a:extLst xmlns:a="http://schemas.openxmlformats.org/drawingml/2006/main">
              <a:ext uri="{FF2B5EF4-FFF2-40B4-BE49-F238E27FC236}">
                <a16:creationId xmlns:a16="http://schemas.microsoft.com/office/drawing/2014/main" id="{DD3F4242-89E1-4B30-8EA4-29030C47C459}"/>
              </a:ext>
            </a:extLst>
          </p:cNvPr>
          <p:cNvSpPr>
            <a:spLocks xmlns:a="http://schemas.openxmlformats.org/drawingml/2006/main" noGrp="1"/>
          </p:cNvSpPr>
          <p:nvPr/>
        </p:nvSpPr>
        <p:spPr>
          <a:xfrm xmlns:a="http://schemas.openxmlformats.org/drawingml/2006/main">
            <a:off x="685800" y="22860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6243B"/>
                </a:solidFill>
                <a:latin typeface="Arial"/>
                <a:ea typeface="Arial"/>
                <a:cs typeface="Arial"/>
              </a:defRPr>
            </a:defPPr>
          </a:lstStyle>
          <a:p xmlns:a="http://schemas.openxmlformats.org/drawingml/2006/main">
            <a:pPr>
              <a:defRPr sz="2250" b="0">
                <a:solidFill>
                  <a:srgbClr val="16243B"/>
                </a:solidFill>
                <a:latin typeface="Arial"/>
                <a:ea typeface="Arial"/>
                <a:cs typeface="Arial"/>
              </a:defRPr>
            </a:pPr>
            <a:r>
              <a:rPr sz="2250" b="0">
                <a:solidFill>
                  <a:srgbClr val="16243B"/>
                </a:solidFill>
                <a:latin typeface="Arial"/>
                <a:ea typeface="Arial"/>
                <a:cs typeface="Arial"/>
              </a:rPr>
              <a:t>Start staging and wait for readiness</a:t>
            </a:r>
          </a:p>
        </p:txBody>
      </p:sp>
      <p:sp>
        <p:nvSpPr>
          <p:cNvPr id="5" name="">
            <a:extLst xmlns:a="http://schemas.openxmlformats.org/drawingml/2006/main">
              <a:ext uri="{FF2B5EF4-FFF2-40B4-BE49-F238E27FC236}">
                <a16:creationId xmlns:a16="http://schemas.microsoft.com/office/drawing/2014/main" id="{D04E0400-1421-4CDD-9EA4-F79A653F135D}"/>
              </a:ext>
            </a:extLst>
          </p:cNvPr>
          <p:cNvSpPr>
            <a:spLocks xmlns:a="http://schemas.openxmlformats.org/drawingml/2006/main" noGrp="1"/>
          </p:cNvSpPr>
          <p:nvPr/>
        </p:nvSpPr>
        <p:spPr>
          <a:xfrm xmlns:a="http://schemas.openxmlformats.org/drawingml/2006/main">
            <a:off x="685800" y="28575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6243B"/>
                </a:solidFill>
                <a:latin typeface="Arial"/>
                <a:ea typeface="Arial"/>
                <a:cs typeface="Arial"/>
              </a:defRPr>
            </a:defPPr>
          </a:lstStyle>
          <a:p xmlns:a="http://schemas.openxmlformats.org/drawingml/2006/main">
            <a:pPr>
              <a:defRPr sz="2250" b="0">
                <a:solidFill>
                  <a:srgbClr val="16243B"/>
                </a:solidFill>
                <a:latin typeface="Arial"/>
                <a:ea typeface="Arial"/>
                <a:cs typeface="Arial"/>
              </a:defRPr>
            </a:pPr>
            <a:r>
              <a:rPr sz="2250" b="0">
                <a:solidFill>
                  <a:srgbClr val="16243B"/>
                </a:solidFill>
                <a:latin typeface="Arial"/>
                <a:ea typeface="Arial"/>
                <a:cs typeface="Arial"/>
              </a:rPr>
              <a:t>Run k6 against the candidate</a:t>
            </a:r>
          </a:p>
        </p:txBody>
      </p:sp>
      <p:sp>
        <p:nvSpPr>
          <p:cNvPr id="6" name="">
            <a:extLst xmlns:a="http://schemas.openxmlformats.org/drawingml/2006/main">
              <a:ext uri="{FF2B5EF4-FFF2-40B4-BE49-F238E27FC236}">
                <a16:creationId xmlns:a16="http://schemas.microsoft.com/office/drawing/2014/main" id="{62395849-66C8-47E1-AFF0-4465B830BF6F}"/>
              </a:ext>
            </a:extLst>
          </p:cNvPr>
          <p:cNvSpPr>
            <a:spLocks xmlns:a="http://schemas.openxmlformats.org/drawingml/2006/main" noGrp="1"/>
          </p:cNvSpPr>
          <p:nvPr/>
        </p:nvSpPr>
        <p:spPr>
          <a:xfrm xmlns:a="http://schemas.openxmlformats.org/drawingml/2006/main">
            <a:off x="685800" y="39814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805C"/>
                </a:solidFill>
                <a:latin typeface="Arial"/>
                <a:ea typeface="Arial"/>
                <a:cs typeface="Arial"/>
              </a:defRPr>
            </a:defPPr>
          </a:lstStyle>
          <a:p xmlns:a="http://schemas.openxmlformats.org/drawingml/2006/main">
            <a:pPr>
              <a:defRPr sz="2850" b="1">
                <a:solidFill>
                  <a:srgbClr val="14805C"/>
                </a:solidFill>
                <a:latin typeface="Arial"/>
                <a:ea typeface="Arial"/>
                <a:cs typeface="Arial"/>
              </a:defRPr>
            </a:pPr>
            <a:r>
              <a:rPr sz="2850" b="1">
                <a:solidFill>
                  <a:srgbClr val="14805C"/>
                </a:solidFill>
                <a:latin typeface="Arial"/>
                <a:ea typeface="Arial"/>
                <a:cs typeface="Arial"/>
              </a:rPr>
              <a:t>Exit 0</a:t>
            </a:r>
          </a:p>
        </p:txBody>
      </p:sp>
      <p:sp>
        <p:nvSpPr>
          <p:cNvPr id="7" name="">
            <a:extLst xmlns:a="http://schemas.openxmlformats.org/drawingml/2006/main">
              <a:ext uri="{FF2B5EF4-FFF2-40B4-BE49-F238E27FC236}">
                <a16:creationId xmlns:a16="http://schemas.microsoft.com/office/drawing/2014/main" id="{3D34F068-6C62-4402-9C82-A04B6763C8B3}"/>
              </a:ext>
            </a:extLst>
          </p:cNvPr>
          <p:cNvSpPr>
            <a:spLocks xmlns:a="http://schemas.openxmlformats.org/drawingml/2006/main" noGrp="1"/>
          </p:cNvSpPr>
          <p:nvPr/>
        </p:nvSpPr>
        <p:spPr>
          <a:xfrm xmlns:a="http://schemas.openxmlformats.org/drawingml/2006/main">
            <a:off x="3714750" y="40005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16243B"/>
                </a:solidFill>
                <a:latin typeface="Arial"/>
                <a:ea typeface="Arial"/>
                <a:cs typeface="Arial"/>
              </a:defRPr>
            </a:defPPr>
          </a:lstStyle>
          <a:p xmlns:a="http://schemas.openxmlformats.org/drawingml/2006/main">
            <a:pPr>
              <a:defRPr sz="2550" b="0">
                <a:solidFill>
                  <a:srgbClr val="16243B"/>
                </a:solidFill>
                <a:latin typeface="Arial"/>
                <a:ea typeface="Arial"/>
                <a:cs typeface="Arial"/>
              </a:defRPr>
            </a:pPr>
            <a:r>
              <a:rPr sz="2550" b="0">
                <a:solidFill>
                  <a:srgbClr val="16243B"/>
                </a:solidFill>
                <a:latin typeface="Arial"/>
                <a:ea typeface="Arial"/>
                <a:cs typeface="Arial"/>
              </a:rPr>
              <a:t>Deploy the tested release</a:t>
            </a:r>
          </a:p>
        </p:txBody>
      </p:sp>
      <p:sp>
        <p:nvSpPr>
          <p:cNvPr id="8" name="">
            <a:extLst xmlns:a="http://schemas.openxmlformats.org/drawingml/2006/main">
              <a:ext uri="{FF2B5EF4-FFF2-40B4-BE49-F238E27FC236}">
                <a16:creationId xmlns:a16="http://schemas.microsoft.com/office/drawing/2014/main" id="{5AEB5BDE-4533-4DED-8C65-C09BB055C139}"/>
              </a:ext>
            </a:extLst>
          </p:cNvPr>
          <p:cNvSpPr>
            <a:spLocks xmlns:a="http://schemas.openxmlformats.org/drawingml/2006/main" noGrp="1"/>
          </p:cNvSpPr>
          <p:nvPr/>
        </p:nvSpPr>
        <p:spPr>
          <a:xfrm xmlns:a="http://schemas.openxmlformats.org/drawingml/2006/main">
            <a:off x="685800" y="482917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BA394A"/>
                </a:solidFill>
                <a:latin typeface="Arial"/>
                <a:ea typeface="Arial"/>
                <a:cs typeface="Arial"/>
              </a:defRPr>
            </a:defPPr>
          </a:lstStyle>
          <a:p xmlns:a="http://schemas.openxmlformats.org/drawingml/2006/main">
            <a:pPr>
              <a:defRPr sz="2550" b="1">
                <a:solidFill>
                  <a:srgbClr val="BA394A"/>
                </a:solidFill>
                <a:latin typeface="Arial"/>
                <a:ea typeface="Arial"/>
                <a:cs typeface="Arial"/>
              </a:defRPr>
            </a:pPr>
            <a:r>
              <a:rPr sz="2550" b="1">
                <a:solidFill>
                  <a:srgbClr val="BA394A"/>
                </a:solidFill>
                <a:latin typeface="Arial"/>
                <a:ea typeface="Arial"/>
                <a:cs typeface="Arial"/>
              </a:rPr>
              <a:t>Exit 99 or another failure</a:t>
            </a:r>
          </a:p>
        </p:txBody>
      </p:sp>
      <p:sp>
        <p:nvSpPr>
          <p:cNvPr id="9" name="">
            <a:extLst xmlns:a="http://schemas.openxmlformats.org/drawingml/2006/main">
              <a:ext uri="{FF2B5EF4-FFF2-40B4-BE49-F238E27FC236}">
                <a16:creationId xmlns:a16="http://schemas.microsoft.com/office/drawing/2014/main" id="{DC77E876-5847-45FC-9A09-CBE3DDEC3387}"/>
              </a:ext>
            </a:extLst>
          </p:cNvPr>
          <p:cNvSpPr>
            <a:spLocks xmlns:a="http://schemas.openxmlformats.org/drawingml/2006/main" noGrp="1"/>
          </p:cNvSpPr>
          <p:nvPr/>
        </p:nvSpPr>
        <p:spPr>
          <a:xfrm xmlns:a="http://schemas.openxmlformats.org/drawingml/2006/main">
            <a:off x="6381750" y="4848225"/>
            <a:ext cx="419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16243B"/>
                </a:solidFill>
                <a:latin typeface="Arial"/>
                <a:ea typeface="Arial"/>
                <a:cs typeface="Arial"/>
              </a:defRPr>
            </a:defPPr>
          </a:lstStyle>
          <a:p xmlns:a="http://schemas.openxmlformats.org/drawingml/2006/main">
            <a:pPr>
              <a:defRPr sz="2550" b="0">
                <a:solidFill>
                  <a:srgbClr val="16243B"/>
                </a:solidFill>
                <a:latin typeface="Arial"/>
                <a:ea typeface="Arial"/>
                <a:cs typeface="Arial"/>
              </a:defRPr>
            </a:pPr>
            <a:r>
              <a:rPr sz="2550" b="0">
                <a:solidFill>
                  <a:srgbClr val="16243B"/>
                </a:solidFill>
                <a:latin typeface="Arial"/>
                <a:ea typeface="Arial"/>
                <a:cs typeface="Arial"/>
              </a:rPr>
              <a:t>Skip deployment</a:t>
            </a:r>
          </a:p>
        </p:txBody>
      </p:sp>
      <p:sp>
        <p:nvSpPr>
          <p:cNvPr id="10" name="">
            <a:extLst xmlns:a="http://schemas.openxmlformats.org/drawingml/2006/main">
              <a:ext uri="{FF2B5EF4-FFF2-40B4-BE49-F238E27FC236}">
                <a16:creationId xmlns:a16="http://schemas.microsoft.com/office/drawing/2014/main" id="{D0911842-FE90-48A4-8EFB-21D294D32090}"/>
              </a:ext>
            </a:extLst>
          </p:cNvPr>
          <p:cNvSpPr>
            <a:spLocks xmlns:a="http://schemas.openxmlformats.org/drawingml/2006/main" noGrp="1"/>
          </p:cNvSpPr>
          <p:nvPr/>
        </p:nvSpPr>
        <p:spPr>
          <a:xfrm xmlns:a="http://schemas.openxmlformats.org/drawingml/2006/main">
            <a:off x="685800" y="59150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27188"/>
                </a:solidFill>
                <a:latin typeface="Arial"/>
                <a:ea typeface="Arial"/>
                <a:cs typeface="Arial"/>
              </a:defRPr>
            </a:defPPr>
          </a:lstStyle>
          <a:p xmlns:a="http://schemas.openxmlformats.org/drawingml/2006/main">
            <a:pPr>
              <a:defRPr sz="1875" b="0">
                <a:solidFill>
                  <a:srgbClr val="627188"/>
                </a:solidFill>
                <a:latin typeface="Arial"/>
                <a:ea typeface="Arial"/>
                <a:cs typeface="Arial"/>
              </a:defRPr>
            </a:pPr>
            <a:r>
              <a:rPr sz="1875" b="0">
                <a:solidFill>
                  <a:srgbClr val="627188"/>
                </a:solidFill>
                <a:latin typeface="Arial"/>
                <a:ea typeface="Arial"/>
                <a:cs typeface="Arial"/>
              </a:rPr>
              <a:t>The previous release keeps serving users when the test fails.</a:t>
            </a:r>
          </a:p>
        </p:txBody>
      </p:sp>
    </p:spTree>
    <p:extLst>
      <p:ext uri="{BB962C8B-B14F-4D97-AF65-F5344CB8AC3E}">
        <p14:creationId xmlns:p14="http://schemas.microsoft.com/office/powerpoint/2010/main" val="545655756"/>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3350C9-211B-4952-BE15-41D65D779EA7}"/>
              </a:ext>
            </a:extLst>
          </p:cNvPr>
          <p:cNvSpPr>
            <a:spLocks xmlns:a="http://schemas.openxmlformats.org/drawingml/2006/main" noGrp="1"/>
          </p:cNvSpPr>
          <p:nvPr/>
        </p:nvSpPr>
        <p:spPr>
          <a:xfrm xmlns:a="http://schemas.openxmlformats.org/drawingml/2006/main">
            <a:off x="685800" y="4572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6243B"/>
                </a:solidFill>
                <a:latin typeface="Arial"/>
                <a:ea typeface="Arial"/>
                <a:cs typeface="Arial"/>
              </a:defRPr>
            </a:defPPr>
          </a:lstStyle>
          <a:p xmlns:a="http://schemas.openxmlformats.org/drawingml/2006/main">
            <a:pPr>
              <a:defRPr sz="3300" b="1">
                <a:solidFill>
                  <a:srgbClr val="16243B"/>
                </a:solidFill>
                <a:latin typeface="Arial"/>
                <a:ea typeface="Arial"/>
                <a:cs typeface="Arial"/>
              </a:defRPr>
            </a:pPr>
            <a:r>
              <a:rPr sz="3300" b="1">
                <a:solidFill>
                  <a:srgbClr val="16243B"/>
                </a:solidFill>
                <a:latin typeface="Arial"/>
                <a:ea typeface="Arial"/>
                <a:cs typeface="Arial"/>
              </a:rPr>
              <a:t>The product catalogue API</a:t>
            </a:r>
          </a:p>
        </p:txBody>
      </p:sp>
      <p:sp>
        <p:nvSpPr>
          <p:cNvPr id="2" name="">
            <a:extLst xmlns:a="http://schemas.openxmlformats.org/drawingml/2006/main">
              <a:ext uri="{FF2B5EF4-FFF2-40B4-BE49-F238E27FC236}">
                <a16:creationId xmlns:a16="http://schemas.microsoft.com/office/drawing/2014/main" id="{6C2752D2-A074-4492-9ADC-427EAB7D632E}"/>
              </a:ext>
            </a:extLst>
          </p:cNvPr>
          <p:cNvSpPr>
            <a:spLocks xmlns:a="http://schemas.openxmlformats.org/drawingml/2006/main" noGrp="1"/>
          </p:cNvSpPr>
          <p:nvPr/>
        </p:nvSpPr>
        <p:spPr>
          <a:xfrm xmlns:a="http://schemas.openxmlformats.org/drawingml/2006/main">
            <a:off x="11144250" y="63341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27188"/>
                </a:solidFill>
                <a:latin typeface="Arial"/>
                <a:ea typeface="Arial"/>
                <a:cs typeface="Arial"/>
              </a:defRPr>
            </a:defPPr>
          </a:lstStyle>
          <a:p xmlns:a="http://schemas.openxmlformats.org/drawingml/2006/main">
            <a:pPr>
              <a:defRPr sz="1350" b="0">
                <a:solidFill>
                  <a:srgbClr val="627188"/>
                </a:solidFill>
                <a:latin typeface="Arial"/>
                <a:ea typeface="Arial"/>
                <a:cs typeface="Arial"/>
              </a:defRPr>
            </a:pPr>
            <a:r>
              <a:rPr sz="1350" b="0">
                <a:solidFill>
                  <a:srgbClr val="62718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3D97EC3-304C-4CD6-BDCB-D9515B8FA1CF}"/>
              </a:ext>
            </a:extLst>
          </p:cNvPr>
          <p:cNvSpPr>
            <a:spLocks xmlns:a="http://schemas.openxmlformats.org/drawingml/2006/main" noGrp="1"/>
          </p:cNvSpPr>
          <p:nvPr/>
        </p:nvSpPr>
        <p:spPr>
          <a:xfrm xmlns:a="http://schemas.openxmlformats.org/drawingml/2006/main">
            <a:off x="685800" y="1571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345FE8"/>
                </a:solidFill>
                <a:latin typeface="Arial"/>
                <a:ea typeface="Arial"/>
                <a:cs typeface="Arial"/>
              </a:defRPr>
            </a:defPPr>
          </a:lstStyle>
          <a:p xmlns:a="http://schemas.openxmlformats.org/drawingml/2006/main">
            <a:pPr>
              <a:defRPr sz="2550" b="1">
                <a:solidFill>
                  <a:srgbClr val="345FE8"/>
                </a:solidFill>
                <a:latin typeface="Arial"/>
                <a:ea typeface="Arial"/>
                <a:cs typeface="Arial"/>
              </a:defRPr>
            </a:pPr>
            <a:r>
              <a:rPr sz="2550" b="1">
                <a:solidFill>
                  <a:srgbClr val="345FE8"/>
                </a:solidFill>
                <a:latin typeface="Arial"/>
                <a:ea typeface="Arial"/>
                <a:cs typeface="Arial"/>
              </a:rPr>
              <a:t>GET /api/products</a:t>
            </a:r>
          </a:p>
        </p:txBody>
      </p:sp>
      <p:graphicFrame>
        <p:nvGraphicFramePr>
          <p:cNvPr id="4" name="">
            <a:extLst xmlns:a="http://schemas.openxmlformats.org/drawingml/2006/main">
              <a:ext uri="{FF2B5EF4-FFF2-40B4-BE49-F238E27FC236}">
                <a16:creationId xmlns:a16="http://schemas.microsoft.com/office/drawing/2014/main" id="{F54F266C-5C18-49EF-81B6-A5F122AD3873}"/>
              </a:ext>
            </a:extLst>
          </p:cNvPr>
          <p:cNvGraphicFramePr/>
          <p:nvPr/>
        </p:nvGraphicFramePr>
        <p:xfrm>
          <a:off xmlns:a="http://schemas.openxmlformats.org/drawingml/2006/main" x="685800" y="2524125"/>
          <a:ext xmlns:a="http://schemas.openxmlformats.org/drawingml/2006/main" cx="10820400" cy="2857500"/>
        </p:xfrm>
        <a:graphic xmlns:a="http://schemas.openxmlformats.org/drawingml/2006/main">
          <a:graphicData uri="http://schemas.openxmlformats.org/drawingml/2006/table">
            <a:tbl>
              <a:tblPr/>
              <a:tblGrid>
                <a:gridCol w="5381625"/>
                <a:gridCol w="2762250"/>
                <a:gridCol w="2676525"/>
              </a:tblGrid>
              <a:tr h="571500">
                <a:tc>
                  <a:txBody>
                    <a:bodyPr/>
                    <a:lstStyle/>
                    <a:p>
                      <a:r>
                        <a:rPr sz="2100" b="1">
                          <a:solidFill>
                            <a:srgbClr val="FFFFFF"/>
                          </a:solidFill>
                          <a:latin typeface="Arial"/>
                          <a:ea typeface="Arial"/>
                          <a:cs typeface="Arial"/>
                        </a:rPr>
                        <a:t>Sample product</a:t>
                      </a:r>
                    </a:p>
                  </a:txBody>
                  <a:tcPr marL="91440" marR="91440" marT="45720" marB="45720">
                    <a:lnL w="9525">
                      <a:solidFill>
                        <a:srgbClr val="E2E8F0"/>
                      </a:solidFill>
                      <a:prstDash val="solid"/>
                    </a:lnL>
                    <a:lnR w="9525">
                      <a:solidFill>
                        <a:srgbClr val="E2E8F0"/>
                      </a:solidFill>
                      <a:prstDash val="solid"/>
                    </a:lnR>
                    <a:lnT w="9525">
                      <a:solidFill>
                        <a:srgbClr val="E2E8F0"/>
                      </a:solidFill>
                      <a:prstDash val="solid"/>
                    </a:lnT>
                    <a:lnB w="9525">
                      <a:solidFill>
                        <a:srgbClr val="E2E8F0"/>
                      </a:solidFill>
                      <a:prstDash val="solid"/>
                    </a:lnB>
                    <a:solidFill>
                      <a:srgbClr val="16243B"/>
                    </a:solidFill>
                  </a:tcPr>
                </a:tc>
                <a:tc>
                  <a:txBody>
                    <a:bodyPr/>
                    <a:lstStyle/>
                    <a:p>
                      <a:r>
                        <a:rPr sz="2100" b="1">
                          <a:solidFill>
                            <a:srgbClr val="FFFFFF"/>
                          </a:solidFill>
                          <a:latin typeface="Arial"/>
                          <a:ea typeface="Arial"/>
                          <a:cs typeface="Arial"/>
                        </a:rPr>
                        <a:t>Category</a:t>
                      </a:r>
                    </a:p>
                  </a:txBody>
                  <a:tcPr marL="91440" marR="91440" marT="45720" marB="45720">
                    <a:lnR w="9525">
                      <a:solidFill>
                        <a:srgbClr val="E2E8F0"/>
                      </a:solidFill>
                      <a:prstDash val="solid"/>
                    </a:lnR>
                    <a:lnT w="9525">
                      <a:solidFill>
                        <a:srgbClr val="E2E8F0"/>
                      </a:solidFill>
                      <a:prstDash val="solid"/>
                    </a:lnT>
                    <a:lnB w="9525">
                      <a:solidFill>
                        <a:srgbClr val="E2E8F0"/>
                      </a:solidFill>
                      <a:prstDash val="solid"/>
                    </a:lnB>
                    <a:solidFill>
                      <a:srgbClr val="16243B"/>
                    </a:solidFill>
                  </a:tcPr>
                </a:tc>
                <a:tc>
                  <a:txBody>
                    <a:bodyPr/>
                    <a:lstStyle/>
                    <a:p>
                      <a:r>
                        <a:rPr sz="2100" b="1">
                          <a:solidFill>
                            <a:srgbClr val="FFFFFF"/>
                          </a:solidFill>
                          <a:latin typeface="Arial"/>
                          <a:ea typeface="Arial"/>
                          <a:cs typeface="Arial"/>
                        </a:rPr>
                        <a:t>Price (INR)</a:t>
                      </a:r>
                    </a:p>
                  </a:txBody>
                  <a:tcPr marL="91440" marR="91440" marT="45720" marB="45720">
                    <a:lnR w="9525">
                      <a:solidFill>
                        <a:srgbClr val="E2E8F0"/>
                      </a:solidFill>
                      <a:prstDash val="solid"/>
                    </a:lnR>
                    <a:lnT w="9525">
                      <a:solidFill>
                        <a:srgbClr val="E2E8F0"/>
                      </a:solidFill>
                      <a:prstDash val="solid"/>
                    </a:lnT>
                    <a:lnB w="9525">
                      <a:solidFill>
                        <a:srgbClr val="E2E8F0"/>
                      </a:solidFill>
                      <a:prstDash val="solid"/>
                    </a:lnB>
                    <a:solidFill>
                      <a:srgbClr val="16243B"/>
                    </a:solidFill>
                  </a:tcPr>
                </a:tc>
              </a:tr>
              <a:tr h="571500">
                <a:tc>
                  <a:txBody>
                    <a:bodyPr/>
                    <a:lstStyle/>
                    <a:p>
                      <a:r>
                        <a:rPr sz="2100" b="0">
                          <a:solidFill>
                            <a:srgbClr val="16243B"/>
                          </a:solidFill>
                          <a:latin typeface="Arial"/>
                          <a:ea typeface="Arial"/>
                          <a:cs typeface="Arial"/>
                        </a:rPr>
                        <a:t>Everyday Headphones</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100" b="0">
                          <a:solidFill>
                            <a:srgbClr val="16243B"/>
                          </a:solidFill>
                          <a:latin typeface="Arial"/>
                          <a:ea typeface="Arial"/>
                          <a:cs typeface="Arial"/>
                        </a:rPr>
                        <a:t>Audio</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100" b="0">
                          <a:solidFill>
                            <a:srgbClr val="16243B"/>
                          </a:solidFill>
                          <a:latin typeface="Arial"/>
                          <a:ea typeface="Arial"/>
                          <a:cs typeface="Arial"/>
                        </a:rPr>
                        <a:t>1499</a:t>
                      </a:r>
                    </a:p>
                  </a:txBody>
                  <a:tcPr marL="91440" marR="91440" marT="45720" marB="45720">
                    <a:lnR w="9525">
                      <a:solidFill>
                        <a:srgbClr val="E2E8F0"/>
                      </a:solidFill>
                      <a:prstDash val="solid"/>
                    </a:lnR>
                    <a:lnB w="9525">
                      <a:solidFill>
                        <a:srgbClr val="E2E8F0"/>
                      </a:solidFill>
                      <a:prstDash val="solid"/>
                    </a:lnB>
                    <a:solidFill>
                      <a:srgbClr val="FFFFFF"/>
                    </a:solidFill>
                  </a:tcPr>
                </a:tc>
              </a:tr>
              <a:tr h="571500">
                <a:tc>
                  <a:txBody>
                    <a:bodyPr/>
                    <a:lstStyle/>
                    <a:p>
                      <a:r>
                        <a:rPr sz="2100" b="0">
                          <a:solidFill>
                            <a:srgbClr val="16243B"/>
                          </a:solidFill>
                          <a:latin typeface="Arial"/>
                          <a:ea typeface="Arial"/>
                          <a:cs typeface="Arial"/>
                        </a:rPr>
                        <a:t>Desk Companion</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100" b="0">
                          <a:solidFill>
                            <a:srgbClr val="16243B"/>
                          </a:solidFill>
                          <a:latin typeface="Arial"/>
                          <a:ea typeface="Arial"/>
                          <a:cs typeface="Arial"/>
                        </a:rPr>
                        <a:t>Accessories</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100" b="0">
                          <a:solidFill>
                            <a:srgbClr val="16243B"/>
                          </a:solidFill>
                          <a:latin typeface="Arial"/>
                          <a:ea typeface="Arial"/>
                          <a:cs typeface="Arial"/>
                        </a:rPr>
                        <a:t>799</a:t>
                      </a:r>
                    </a:p>
                  </a:txBody>
                  <a:tcPr marL="91440" marR="91440" marT="45720" marB="45720">
                    <a:lnR w="9525">
                      <a:solidFill>
                        <a:srgbClr val="E2E8F0"/>
                      </a:solidFill>
                      <a:prstDash val="solid"/>
                    </a:lnR>
                    <a:lnB w="9525">
                      <a:solidFill>
                        <a:srgbClr val="E2E8F0"/>
                      </a:solidFill>
                      <a:prstDash val="solid"/>
                    </a:lnB>
                    <a:solidFill>
                      <a:srgbClr val="FFFFFF"/>
                    </a:solidFill>
                  </a:tcPr>
                </a:tc>
              </a:tr>
              <a:tr h="571500">
                <a:tc>
                  <a:txBody>
                    <a:bodyPr/>
                    <a:lstStyle/>
                    <a:p>
                      <a:r>
                        <a:rPr sz="2100" b="0">
                          <a:solidFill>
                            <a:srgbClr val="16243B"/>
                          </a:solidFill>
                          <a:latin typeface="Arial"/>
                          <a:ea typeface="Arial"/>
                          <a:cs typeface="Arial"/>
                        </a:rPr>
                        <a:t>Travel Bottle</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100" b="0">
                          <a:solidFill>
                            <a:srgbClr val="16243B"/>
                          </a:solidFill>
                          <a:latin typeface="Arial"/>
                          <a:ea typeface="Arial"/>
                          <a:cs typeface="Arial"/>
                        </a:rPr>
                        <a:t>Essentials</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100" b="0">
                          <a:solidFill>
                            <a:srgbClr val="16243B"/>
                          </a:solidFill>
                          <a:latin typeface="Arial"/>
                          <a:ea typeface="Arial"/>
                          <a:cs typeface="Arial"/>
                        </a:rPr>
                        <a:t>599</a:t>
                      </a:r>
                    </a:p>
                  </a:txBody>
                  <a:tcPr marL="91440" marR="91440" marT="45720" marB="45720">
                    <a:lnR w="9525">
                      <a:solidFill>
                        <a:srgbClr val="E2E8F0"/>
                      </a:solidFill>
                      <a:prstDash val="solid"/>
                    </a:lnR>
                    <a:lnB w="9525">
                      <a:solidFill>
                        <a:srgbClr val="E2E8F0"/>
                      </a:solidFill>
                      <a:prstDash val="solid"/>
                    </a:lnB>
                    <a:solidFill>
                      <a:srgbClr val="FFFFFF"/>
                    </a:solidFill>
                  </a:tcPr>
                </a:tc>
              </a:tr>
              <a:tr h="571500">
                <a:tc>
                  <a:txBody>
                    <a:bodyPr/>
                    <a:lstStyle/>
                    <a:p>
                      <a:r>
                        <a:rPr sz="2100" b="0">
                          <a:solidFill>
                            <a:srgbClr val="16243B"/>
                          </a:solidFill>
                          <a:latin typeface="Arial"/>
                          <a:ea typeface="Arial"/>
                          <a:cs typeface="Arial"/>
                        </a:rPr>
                        <a:t>Pocket Speaker</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100" b="0">
                          <a:solidFill>
                            <a:srgbClr val="16243B"/>
                          </a:solidFill>
                          <a:latin typeface="Arial"/>
                          <a:ea typeface="Arial"/>
                          <a:cs typeface="Arial"/>
                        </a:rPr>
                        <a:t>Audio</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100" b="0">
                          <a:solidFill>
                            <a:srgbClr val="16243B"/>
                          </a:solidFill>
                          <a:latin typeface="Arial"/>
                          <a:ea typeface="Arial"/>
                          <a:cs typeface="Arial"/>
                        </a:rPr>
                        <a:t>1299</a:t>
                      </a:r>
                    </a:p>
                  </a:txBody>
                  <a:tcPr marL="91440" marR="91440" marT="45720" marB="45720">
                    <a:lnR w="9525">
                      <a:solidFill>
                        <a:srgbClr val="E2E8F0"/>
                      </a:solidFill>
                      <a:prstDash val="solid"/>
                    </a:lnR>
                    <a:lnB w="9525">
                      <a:solidFill>
                        <a:srgbClr val="E2E8F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3AD7ED6-79EE-4969-831F-AFDCEABABC43}"/>
              </a:ext>
            </a:extLst>
          </p:cNvPr>
          <p:cNvSpPr>
            <a:spLocks xmlns:a="http://schemas.openxmlformats.org/drawingml/2006/main" noGrp="1"/>
          </p:cNvSpPr>
          <p:nvPr/>
        </p:nvSpPr>
        <p:spPr>
          <a:xfrm xmlns:a="http://schemas.openxmlformats.org/drawingml/2006/main">
            <a:off x="685800" y="5857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27188"/>
                </a:solidFill>
                <a:latin typeface="Arial"/>
                <a:ea typeface="Arial"/>
                <a:cs typeface="Arial"/>
              </a:defRPr>
            </a:defPPr>
          </a:lstStyle>
          <a:p xmlns:a="http://schemas.openxmlformats.org/drawingml/2006/main">
            <a:pPr>
              <a:defRPr sz="1875" b="0">
                <a:solidFill>
                  <a:srgbClr val="627188"/>
                </a:solidFill>
                <a:latin typeface="Arial"/>
                <a:ea typeface="Arial"/>
                <a:cs typeface="Arial"/>
              </a:defRPr>
            </a:pPr>
            <a:r>
              <a:rPr sz="1875" b="0">
                <a:solidFill>
                  <a:srgbClr val="627188"/>
                </a:solidFill>
                <a:latin typeface="Arial"/>
                <a:ea typeface="Arial"/>
                <a:cs typeface="Arial"/>
              </a:rPr>
              <a:t>HTTP 200, four products and a release version in every valid response.</a:t>
            </a:r>
          </a:p>
        </p:txBody>
      </p:sp>
    </p:spTree>
    <p:extLst>
      <p:ext uri="{BB962C8B-B14F-4D97-AF65-F5344CB8AC3E}">
        <p14:creationId xmlns:p14="http://schemas.microsoft.com/office/powerpoint/2010/main" val="766878717"/>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F779D9-6A56-458F-A050-9A4D28CCE023}"/>
              </a:ext>
            </a:extLst>
          </p:cNvPr>
          <p:cNvSpPr>
            <a:spLocks xmlns:a="http://schemas.openxmlformats.org/drawingml/2006/main" noGrp="1"/>
          </p:cNvSpPr>
          <p:nvPr/>
        </p:nvSpPr>
        <p:spPr>
          <a:xfrm xmlns:a="http://schemas.openxmlformats.org/drawingml/2006/main">
            <a:off x="685800" y="4572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6243B"/>
                </a:solidFill>
                <a:latin typeface="Arial"/>
                <a:ea typeface="Arial"/>
                <a:cs typeface="Arial"/>
              </a:defRPr>
            </a:defPPr>
          </a:lstStyle>
          <a:p xmlns:a="http://schemas.openxmlformats.org/drawingml/2006/main">
            <a:pPr>
              <a:defRPr sz="3300" b="1">
                <a:solidFill>
                  <a:srgbClr val="16243B"/>
                </a:solidFill>
                <a:latin typeface="Arial"/>
                <a:ea typeface="Arial"/>
                <a:cs typeface="Arial"/>
              </a:defRPr>
            </a:pPr>
            <a:r>
              <a:rPr sz="3300" b="1">
                <a:solidFill>
                  <a:srgbClr val="16243B"/>
                </a:solidFill>
                <a:latin typeface="Arial"/>
                <a:ea typeface="Arial"/>
                <a:cs typeface="Arial"/>
              </a:rPr>
              <a:t>Measured local results</a:t>
            </a:r>
          </a:p>
        </p:txBody>
      </p:sp>
      <p:sp>
        <p:nvSpPr>
          <p:cNvPr id="2" name="">
            <a:extLst xmlns:a="http://schemas.openxmlformats.org/drawingml/2006/main">
              <a:ext uri="{FF2B5EF4-FFF2-40B4-BE49-F238E27FC236}">
                <a16:creationId xmlns:a16="http://schemas.microsoft.com/office/drawing/2014/main" id="{4D59AF05-3C5E-4EF2-BFBB-61A439D5216D}"/>
              </a:ext>
            </a:extLst>
          </p:cNvPr>
          <p:cNvSpPr>
            <a:spLocks xmlns:a="http://schemas.openxmlformats.org/drawingml/2006/main" noGrp="1"/>
          </p:cNvSpPr>
          <p:nvPr/>
        </p:nvSpPr>
        <p:spPr>
          <a:xfrm xmlns:a="http://schemas.openxmlformats.org/drawingml/2006/main">
            <a:off x="11144250" y="63341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27188"/>
                </a:solidFill>
                <a:latin typeface="Arial"/>
                <a:ea typeface="Arial"/>
                <a:cs typeface="Arial"/>
              </a:defRPr>
            </a:defPPr>
          </a:lstStyle>
          <a:p xmlns:a="http://schemas.openxmlformats.org/drawingml/2006/main">
            <a:pPr>
              <a:defRPr sz="1350" b="0">
                <a:solidFill>
                  <a:srgbClr val="627188"/>
                </a:solidFill>
                <a:latin typeface="Arial"/>
                <a:ea typeface="Arial"/>
                <a:cs typeface="Arial"/>
              </a:defRPr>
            </a:pPr>
            <a:r>
              <a:rPr sz="1350" b="0">
                <a:solidFill>
                  <a:srgbClr val="627188"/>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14715129-9FD7-4654-A1C9-86BEFF6C87BA}"/>
              </a:ext>
            </a:extLst>
          </p:cNvPr>
          <p:cNvGraphicFramePr/>
          <p:nvPr/>
        </p:nvGraphicFramePr>
        <p:xfrm>
          <a:off xmlns:a="http://schemas.openxmlformats.org/drawingml/2006/main" x="685800" y="1857375"/>
          <a:ext xmlns:a="http://schemas.openxmlformats.org/drawingml/2006/main" cx="10820400" cy="2857500"/>
        </p:xfrm>
        <a:graphic xmlns:a="http://schemas.openxmlformats.org/drawingml/2006/main">
          <a:graphicData uri="http://schemas.openxmlformats.org/drawingml/2006/table">
            <a:tbl>
              <a:tblPr/>
              <a:tblGrid>
                <a:gridCol w="2571750"/>
                <a:gridCol w="2095500"/>
                <a:gridCol w="2286000"/>
                <a:gridCol w="1714500"/>
                <a:gridCol w="2152650"/>
              </a:tblGrid>
              <a:tr h="714375">
                <a:tc>
                  <a:txBody>
                    <a:bodyPr/>
                    <a:lstStyle/>
                    <a:p>
                      <a:r>
                        <a:rPr sz="2025" b="1">
                          <a:solidFill>
                            <a:srgbClr val="FFFFFF"/>
                          </a:solidFill>
                          <a:latin typeface="Arial"/>
                          <a:ea typeface="Arial"/>
                          <a:cs typeface="Arial"/>
                        </a:rPr>
                        <a:t>Release</a:t>
                      </a:r>
                    </a:p>
                  </a:txBody>
                  <a:tcPr marL="91440" marR="91440" marT="45720" marB="45720">
                    <a:lnL w="9525">
                      <a:solidFill>
                        <a:srgbClr val="E2E8F0"/>
                      </a:solidFill>
                      <a:prstDash val="solid"/>
                    </a:lnL>
                    <a:lnR w="9525">
                      <a:solidFill>
                        <a:srgbClr val="E2E8F0"/>
                      </a:solidFill>
                      <a:prstDash val="solid"/>
                    </a:lnR>
                    <a:lnT w="9525">
                      <a:solidFill>
                        <a:srgbClr val="E2E8F0"/>
                      </a:solidFill>
                      <a:prstDash val="solid"/>
                    </a:lnT>
                    <a:lnB w="9525">
                      <a:solidFill>
                        <a:srgbClr val="E2E8F0"/>
                      </a:solidFill>
                      <a:prstDash val="solid"/>
                    </a:lnB>
                    <a:solidFill>
                      <a:srgbClr val="16243B"/>
                    </a:solidFill>
                  </a:tcPr>
                </a:tc>
                <a:tc>
                  <a:txBody>
                    <a:bodyPr/>
                    <a:lstStyle/>
                    <a:p>
                      <a:r>
                        <a:rPr sz="2025" b="1">
                          <a:solidFill>
                            <a:srgbClr val="FFFFFF"/>
                          </a:solidFill>
                          <a:latin typeface="Arial"/>
                          <a:ea typeface="Arial"/>
                          <a:cs typeface="Arial"/>
                        </a:rPr>
                        <a:t>p95 (ms)</a:t>
                      </a:r>
                    </a:p>
                  </a:txBody>
                  <a:tcPr marL="91440" marR="91440" marT="45720" marB="45720">
                    <a:lnR w="9525">
                      <a:solidFill>
                        <a:srgbClr val="E2E8F0"/>
                      </a:solidFill>
                      <a:prstDash val="solid"/>
                    </a:lnR>
                    <a:lnT w="9525">
                      <a:solidFill>
                        <a:srgbClr val="E2E8F0"/>
                      </a:solidFill>
                      <a:prstDash val="solid"/>
                    </a:lnT>
                    <a:lnB w="9525">
                      <a:solidFill>
                        <a:srgbClr val="E2E8F0"/>
                      </a:solidFill>
                      <a:prstDash val="solid"/>
                    </a:lnB>
                    <a:solidFill>
                      <a:srgbClr val="16243B"/>
                    </a:solidFill>
                  </a:tcPr>
                </a:tc>
                <a:tc>
                  <a:txBody>
                    <a:bodyPr/>
                    <a:lstStyle/>
                    <a:p>
                      <a:r>
                        <a:rPr sz="2025" b="1">
                          <a:solidFill>
                            <a:srgbClr val="FFFFFF"/>
                          </a:solidFill>
                          <a:latin typeface="Arial"/>
                          <a:ea typeface="Arial"/>
                          <a:cs typeface="Arial"/>
                        </a:rPr>
                        <a:t>HTTP failures</a:t>
                      </a:r>
                    </a:p>
                  </a:txBody>
                  <a:tcPr marL="91440" marR="91440" marT="45720" marB="45720">
                    <a:lnR w="9525">
                      <a:solidFill>
                        <a:srgbClr val="E2E8F0"/>
                      </a:solidFill>
                      <a:prstDash val="solid"/>
                    </a:lnR>
                    <a:lnT w="9525">
                      <a:solidFill>
                        <a:srgbClr val="E2E8F0"/>
                      </a:solidFill>
                      <a:prstDash val="solid"/>
                    </a:lnT>
                    <a:lnB w="9525">
                      <a:solidFill>
                        <a:srgbClr val="E2E8F0"/>
                      </a:solidFill>
                      <a:prstDash val="solid"/>
                    </a:lnB>
                    <a:solidFill>
                      <a:srgbClr val="16243B"/>
                    </a:solidFill>
                  </a:tcPr>
                </a:tc>
                <a:tc>
                  <a:txBody>
                    <a:bodyPr/>
                    <a:lstStyle/>
                    <a:p>
                      <a:r>
                        <a:rPr sz="2025" b="1">
                          <a:solidFill>
                            <a:srgbClr val="FFFFFF"/>
                          </a:solidFill>
                          <a:latin typeface="Arial"/>
                          <a:ea typeface="Arial"/>
                          <a:cs typeface="Arial"/>
                        </a:rPr>
                        <a:t>Gate</a:t>
                      </a:r>
                    </a:p>
                  </a:txBody>
                  <a:tcPr marL="91440" marR="91440" marT="45720" marB="45720">
                    <a:lnR w="9525">
                      <a:solidFill>
                        <a:srgbClr val="E2E8F0"/>
                      </a:solidFill>
                      <a:prstDash val="solid"/>
                    </a:lnR>
                    <a:lnT w="9525">
                      <a:solidFill>
                        <a:srgbClr val="E2E8F0"/>
                      </a:solidFill>
                      <a:prstDash val="solid"/>
                    </a:lnT>
                    <a:lnB w="9525">
                      <a:solidFill>
                        <a:srgbClr val="E2E8F0"/>
                      </a:solidFill>
                      <a:prstDash val="solid"/>
                    </a:lnB>
                    <a:solidFill>
                      <a:srgbClr val="16243B"/>
                    </a:solidFill>
                  </a:tcPr>
                </a:tc>
                <a:tc>
                  <a:txBody>
                    <a:bodyPr/>
                    <a:lstStyle/>
                    <a:p>
                      <a:r>
                        <a:rPr sz="2025" b="1">
                          <a:solidFill>
                            <a:srgbClr val="FFFFFF"/>
                          </a:solidFill>
                          <a:latin typeface="Arial"/>
                          <a:ea typeface="Arial"/>
                          <a:cs typeface="Arial"/>
                        </a:rPr>
                        <a:t>Deployment</a:t>
                      </a:r>
                    </a:p>
                  </a:txBody>
                  <a:tcPr marL="91440" marR="91440" marT="45720" marB="45720">
                    <a:lnR w="9525">
                      <a:solidFill>
                        <a:srgbClr val="E2E8F0"/>
                      </a:solidFill>
                      <a:prstDash val="solid"/>
                    </a:lnR>
                    <a:lnT w="9525">
                      <a:solidFill>
                        <a:srgbClr val="E2E8F0"/>
                      </a:solidFill>
                      <a:prstDash val="solid"/>
                    </a:lnT>
                    <a:lnB w="9525">
                      <a:solidFill>
                        <a:srgbClr val="E2E8F0"/>
                      </a:solidFill>
                      <a:prstDash val="solid"/>
                    </a:lnB>
                    <a:solidFill>
                      <a:srgbClr val="16243B"/>
                    </a:solidFill>
                  </a:tcPr>
                </a:tc>
              </a:tr>
              <a:tr h="714375">
                <a:tc>
                  <a:txBody>
                    <a:bodyPr/>
                    <a:lstStyle/>
                    <a:p>
                      <a:r>
                        <a:rPr sz="2025" b="0">
                          <a:solidFill>
                            <a:srgbClr val="16243B"/>
                          </a:solidFill>
                          <a:latin typeface="Arial"/>
                          <a:ea typeface="Arial"/>
                          <a:cs typeface="Arial"/>
                        </a:rPr>
                        <a:t>v1-fast</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47.75</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0%</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PASS</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Deployed</a:t>
                      </a:r>
                    </a:p>
                  </a:txBody>
                  <a:tcPr marL="91440" marR="91440" marT="45720" marB="45720">
                    <a:lnR w="9525">
                      <a:solidFill>
                        <a:srgbClr val="E2E8F0"/>
                      </a:solidFill>
                      <a:prstDash val="solid"/>
                    </a:lnR>
                    <a:lnB w="9525">
                      <a:solidFill>
                        <a:srgbClr val="E2E8F0"/>
                      </a:solidFill>
                      <a:prstDash val="solid"/>
                    </a:lnB>
                    <a:solidFill>
                      <a:srgbClr val="FFFFFF"/>
                    </a:solidFill>
                  </a:tcPr>
                </a:tc>
              </a:tr>
              <a:tr h="714375">
                <a:tc>
                  <a:txBody>
                    <a:bodyPr/>
                    <a:lstStyle/>
                    <a:p>
                      <a:r>
                        <a:rPr sz="2025" b="0">
                          <a:solidFill>
                            <a:srgbClr val="16243B"/>
                          </a:solidFill>
                          <a:latin typeface="Arial"/>
                          <a:ea typeface="Arial"/>
                          <a:cs typeface="Arial"/>
                        </a:rPr>
                        <a:t>v2-slow</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1218.86</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0%</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FAIL</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Skipped</a:t>
                      </a:r>
                    </a:p>
                  </a:txBody>
                  <a:tcPr marL="91440" marR="91440" marT="45720" marB="45720">
                    <a:lnR w="9525">
                      <a:solidFill>
                        <a:srgbClr val="E2E8F0"/>
                      </a:solidFill>
                      <a:prstDash val="solid"/>
                    </a:lnR>
                    <a:lnB w="9525">
                      <a:solidFill>
                        <a:srgbClr val="E2E8F0"/>
                      </a:solidFill>
                      <a:prstDash val="solid"/>
                    </a:lnB>
                    <a:solidFill>
                      <a:srgbClr val="FFFFFF"/>
                    </a:solidFill>
                  </a:tcPr>
                </a:tc>
              </a:tr>
              <a:tr h="714375">
                <a:tc>
                  <a:txBody>
                    <a:bodyPr/>
                    <a:lstStyle/>
                    <a:p>
                      <a:r>
                        <a:rPr sz="2025" b="0">
                          <a:solidFill>
                            <a:srgbClr val="16243B"/>
                          </a:solidFill>
                          <a:latin typeface="Arial"/>
                          <a:ea typeface="Arial"/>
                          <a:cs typeface="Arial"/>
                        </a:rPr>
                        <a:t>v3-fixed</a:t>
                      </a:r>
                    </a:p>
                  </a:txBody>
                  <a:tcPr marL="91440" marR="91440" marT="45720" marB="45720">
                    <a:lnL w="9525">
                      <a:solidFill>
                        <a:srgbClr val="E2E8F0"/>
                      </a:solidFill>
                      <a:prstDash val="solid"/>
                    </a:lnL>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46.58</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0%</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PASS</a:t>
                      </a:r>
                    </a:p>
                  </a:txBody>
                  <a:tcPr marL="91440" marR="91440" marT="45720" marB="45720">
                    <a:lnR w="9525">
                      <a:solidFill>
                        <a:srgbClr val="E2E8F0"/>
                      </a:solidFill>
                      <a:prstDash val="solid"/>
                    </a:lnR>
                    <a:lnB w="9525">
                      <a:solidFill>
                        <a:srgbClr val="E2E8F0"/>
                      </a:solidFill>
                      <a:prstDash val="solid"/>
                    </a:lnB>
                    <a:solidFill>
                      <a:srgbClr val="FFFFFF"/>
                    </a:solidFill>
                  </a:tcPr>
                </a:tc>
                <a:tc>
                  <a:txBody>
                    <a:bodyPr/>
                    <a:lstStyle/>
                    <a:p>
                      <a:r>
                        <a:rPr sz="2025" b="0">
                          <a:solidFill>
                            <a:srgbClr val="16243B"/>
                          </a:solidFill>
                          <a:latin typeface="Arial"/>
                          <a:ea typeface="Arial"/>
                          <a:cs typeface="Arial"/>
                        </a:rPr>
                        <a:t>Deployed</a:t>
                      </a:r>
                    </a:p>
                  </a:txBody>
                  <a:tcPr marL="91440" marR="91440" marT="45720" marB="45720">
                    <a:lnR w="9525">
                      <a:solidFill>
                        <a:srgbClr val="E2E8F0"/>
                      </a:solidFill>
                      <a:prstDash val="solid"/>
                    </a:lnR>
                    <a:lnB w="9525">
                      <a:solidFill>
                        <a:srgbClr val="E2E8F0"/>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B9F8039-DDA4-4D93-9FA4-8369A7153E51}"/>
              </a:ext>
            </a:extLst>
          </p:cNvPr>
          <p:cNvSpPr>
            <a:spLocks xmlns:a="http://schemas.openxmlformats.org/drawingml/2006/main" noGrp="1"/>
          </p:cNvSpPr>
          <p:nvPr/>
        </p:nvSpPr>
        <p:spPr>
          <a:xfrm xmlns:a="http://schemas.openxmlformats.org/drawingml/2006/main">
            <a:off x="685800" y="51911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BA394A"/>
                </a:solidFill>
                <a:latin typeface="Arial"/>
                <a:ea typeface="Arial"/>
                <a:cs typeface="Arial"/>
              </a:defRPr>
            </a:defPPr>
          </a:lstStyle>
          <a:p xmlns:a="http://schemas.openxmlformats.org/drawingml/2006/main">
            <a:pPr>
              <a:defRPr sz="2400" b="1">
                <a:solidFill>
                  <a:srgbClr val="BA394A"/>
                </a:solidFill>
                <a:latin typeface="Arial"/>
                <a:ea typeface="Arial"/>
                <a:cs typeface="Arial"/>
              </a:defRPr>
            </a:pPr>
            <a:r>
              <a:rPr sz="2400" b="1">
                <a:solidFill>
                  <a:srgbClr val="BA394A"/>
                </a:solidFill>
                <a:latin typeface="Arial"/>
                <a:ea typeface="Arial"/>
                <a:cs typeface="Arial"/>
              </a:rPr>
              <a:t>The slow release returns correct data but fails the latency budget.</a:t>
            </a:r>
          </a:p>
        </p:txBody>
      </p:sp>
      <p:sp>
        <p:nvSpPr>
          <p:cNvPr id="5" name="">
            <a:extLst xmlns:a="http://schemas.openxmlformats.org/drawingml/2006/main">
              <a:ext uri="{FF2B5EF4-FFF2-40B4-BE49-F238E27FC236}">
                <a16:creationId xmlns:a16="http://schemas.microsoft.com/office/drawing/2014/main" id="{CC082FA8-F1A9-4721-93F6-A1A88D7FDC84}"/>
              </a:ext>
            </a:extLst>
          </p:cNvPr>
          <p:cNvSpPr>
            <a:spLocks xmlns:a="http://schemas.openxmlformats.org/drawingml/2006/main" noGrp="1"/>
          </p:cNvSpPr>
          <p:nvPr/>
        </p:nvSpPr>
        <p:spPr>
          <a:xfrm xmlns:a="http://schemas.openxmlformats.org/drawingml/2006/main">
            <a:off x="685800" y="60198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27188"/>
                </a:solidFill>
                <a:latin typeface="Arial"/>
                <a:ea typeface="Arial"/>
                <a:cs typeface="Arial"/>
              </a:defRPr>
            </a:defPPr>
          </a:lstStyle>
          <a:p xmlns:a="http://schemas.openxmlformats.org/drawingml/2006/main">
            <a:pPr>
              <a:defRPr sz="1800" b="0">
                <a:solidFill>
                  <a:srgbClr val="627188"/>
                </a:solidFill>
                <a:latin typeface="Arial"/>
                <a:ea typeface="Arial"/>
                <a:cs typeface="Arial"/>
              </a:defRPr>
            </a:pPr>
            <a:r>
              <a:rPr sz="1800" b="0">
                <a:solidFill>
                  <a:srgbClr val="627188"/>
                </a:solidFill>
                <a:latin typeface="Arial"/>
                <a:ea typeface="Arial"/>
                <a:cs typeface="Arial"/>
              </a:rPr>
              <a:t>10 VUs, 15 seconds per run. Response checks: 100% pass in all runs.</a:t>
            </a:r>
          </a:p>
        </p:txBody>
      </p:sp>
    </p:spTree>
    <p:extLst>
      <p:ext uri="{BB962C8B-B14F-4D97-AF65-F5344CB8AC3E}">
        <p14:creationId xmlns:p14="http://schemas.microsoft.com/office/powerpoint/2010/main" val="2086319329"/>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0236192-3529-48B2-A5A6-54DC47743EC9}"/>
              </a:ext>
            </a:extLst>
          </p:cNvPr>
          <p:cNvSpPr>
            <a:spLocks xmlns:a="http://schemas.openxmlformats.org/drawingml/2006/main" noGrp="1"/>
          </p:cNvSpPr>
          <p:nvPr/>
        </p:nvSpPr>
        <p:spPr>
          <a:xfrm xmlns:a="http://schemas.openxmlformats.org/drawingml/2006/main">
            <a:off x="685800" y="4572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6243B"/>
                </a:solidFill>
                <a:latin typeface="Arial"/>
                <a:ea typeface="Arial"/>
                <a:cs typeface="Arial"/>
              </a:defRPr>
            </a:defPPr>
          </a:lstStyle>
          <a:p xmlns:a="http://schemas.openxmlformats.org/drawingml/2006/main">
            <a:pPr>
              <a:defRPr sz="3300" b="1">
                <a:solidFill>
                  <a:srgbClr val="16243B"/>
                </a:solidFill>
                <a:latin typeface="Arial"/>
                <a:ea typeface="Arial"/>
                <a:cs typeface="Arial"/>
              </a:defRPr>
            </a:pPr>
            <a:r>
              <a:rPr sz="3300" b="1">
                <a:solidFill>
                  <a:srgbClr val="16243B"/>
                </a:solidFill>
                <a:latin typeface="Arial"/>
                <a:ea typeface="Arial"/>
                <a:cs typeface="Arial"/>
              </a:rPr>
              <a:t>k6 execution and exit status</a:t>
            </a:r>
          </a:p>
        </p:txBody>
      </p:sp>
      <p:sp>
        <p:nvSpPr>
          <p:cNvPr id="2" name="">
            <a:extLst xmlns:a="http://schemas.openxmlformats.org/drawingml/2006/main">
              <a:ext uri="{FF2B5EF4-FFF2-40B4-BE49-F238E27FC236}">
                <a16:creationId xmlns:a16="http://schemas.microsoft.com/office/drawing/2014/main" id="{15DABB66-AE51-41FA-BFCE-52A1A1953C4F}"/>
              </a:ext>
            </a:extLst>
          </p:cNvPr>
          <p:cNvSpPr>
            <a:spLocks xmlns:a="http://schemas.openxmlformats.org/drawingml/2006/main" noGrp="1"/>
          </p:cNvSpPr>
          <p:nvPr/>
        </p:nvSpPr>
        <p:spPr>
          <a:xfrm xmlns:a="http://schemas.openxmlformats.org/drawingml/2006/main">
            <a:off x="11144250" y="63341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27188"/>
                </a:solidFill>
                <a:latin typeface="Arial"/>
                <a:ea typeface="Arial"/>
                <a:cs typeface="Arial"/>
              </a:defRPr>
            </a:defPPr>
          </a:lstStyle>
          <a:p xmlns:a="http://schemas.openxmlformats.org/drawingml/2006/main">
            <a:pPr>
              <a:defRPr sz="1350" b="0">
                <a:solidFill>
                  <a:srgbClr val="627188"/>
                </a:solidFill>
                <a:latin typeface="Arial"/>
                <a:ea typeface="Arial"/>
                <a:cs typeface="Arial"/>
              </a:defRPr>
            </a:pPr>
            <a:r>
              <a:rPr sz="1350" b="0">
                <a:solidFill>
                  <a:srgbClr val="627188"/>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0F56186C-1CC2-4EA2-AB82-7B69E9265D9F}"/>
              </a:ext>
            </a:extLst>
          </p:cNvPr>
          <p:cNvSpPr>
            <a:spLocks xmlns:a="http://schemas.openxmlformats.org/drawingml/2006/main" noGrp="1"/>
          </p:cNvSpPr>
          <p:nvPr/>
        </p:nvSpPr>
        <p:spPr>
          <a:xfrm xmlns:a="http://schemas.openxmlformats.org/drawingml/2006/main">
            <a:off x="685800" y="16383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345FE8"/>
                </a:solidFill>
                <a:latin typeface="Arial"/>
                <a:ea typeface="Arial"/>
                <a:cs typeface="Arial"/>
              </a:defRPr>
            </a:defPPr>
          </a:lstStyle>
          <a:p xmlns:a="http://schemas.openxmlformats.org/drawingml/2006/main">
            <a:pPr>
              <a:defRPr sz="2400" b="1">
                <a:solidFill>
                  <a:srgbClr val="345FE8"/>
                </a:solidFill>
                <a:latin typeface="Arial"/>
                <a:ea typeface="Arial"/>
                <a:cs typeface="Arial"/>
              </a:defRPr>
            </a:pPr>
            <a:r>
              <a:rPr sz="2400" b="1">
                <a:solidFill>
                  <a:srgbClr val="345FE8"/>
                </a:solidFill>
                <a:latin typeface="Arial"/>
                <a:ea typeface="Arial"/>
                <a:cs typeface="Arial"/>
              </a:rPr>
              <a:t>Open tests/performance.js and explain the workload.</a:t>
            </a:r>
          </a:p>
        </p:txBody>
      </p:sp>
      <p:sp>
        <p:nvSpPr>
          <p:cNvPr id="4" name="">
            <a:extLst xmlns:a="http://schemas.openxmlformats.org/drawingml/2006/main">
              <a:ext uri="{FF2B5EF4-FFF2-40B4-BE49-F238E27FC236}">
                <a16:creationId xmlns:a16="http://schemas.microsoft.com/office/drawing/2014/main" id="{7A2B8DA9-3BE7-4CBF-ACF8-55727B5F96CE}"/>
              </a:ext>
            </a:extLst>
          </p:cNvPr>
          <p:cNvSpPr>
            <a:spLocks xmlns:a="http://schemas.openxmlformats.org/drawingml/2006/main" noGrp="1"/>
          </p:cNvSpPr>
          <p:nvPr/>
        </p:nvSpPr>
        <p:spPr>
          <a:xfrm xmlns:a="http://schemas.openxmlformats.org/drawingml/2006/main">
            <a:off x="685800" y="261937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6243B"/>
                </a:solidFill>
                <a:latin typeface="Arial"/>
                <a:ea typeface="Arial"/>
                <a:cs typeface="Arial"/>
              </a:defRPr>
            </a:defPPr>
          </a:lstStyle>
          <a:p xmlns:a="http://schemas.openxmlformats.org/drawingml/2006/main">
            <a:pPr>
              <a:defRPr sz="2100" b="0">
                <a:solidFill>
                  <a:srgbClr val="16243B"/>
                </a:solidFill>
                <a:latin typeface="Arial"/>
                <a:ea typeface="Arial"/>
                <a:cs typeface="Arial"/>
              </a:defRPr>
            </a:pPr>
            <a:r>
              <a:rPr sz="2100" b="0">
                <a:solidFill>
                  <a:srgbClr val="16243B"/>
                </a:solidFill>
                <a:latin typeface="Arial"/>
                <a:ea typeface="Arial"/>
                <a:cs typeface="Arial"/>
              </a:rPr>
              <a:t>.\tools\k6.exe run tests/performance.js `</a:t>
            </a:r>
          </a:p>
          <a:p xmlns:a="http://schemas.openxmlformats.org/drawingml/2006/main">
            <a:pPr>
              <a:defRPr sz="2100" b="0">
                <a:solidFill>
                  <a:srgbClr val="16243B"/>
                </a:solidFill>
                <a:latin typeface="Arial"/>
                <a:ea typeface="Arial"/>
                <a:cs typeface="Arial"/>
              </a:defRPr>
            </a:pPr>
            <a:r>
              <a:rPr sz="2100" b="0">
                <a:solidFill>
                  <a:srgbClr val="16243B"/>
                </a:solidFill>
                <a:latin typeface="Arial"/>
                <a:ea typeface="Arial"/>
                <a:cs typeface="Arial"/>
              </a:rPr>
              <a:t>  -e BASE_URL=http://localhost:3001 `</a:t>
            </a:r>
          </a:p>
          <a:p xmlns:a="http://schemas.openxmlformats.org/drawingml/2006/main">
            <a:pPr>
              <a:defRPr sz="2100" b="0">
                <a:solidFill>
                  <a:srgbClr val="16243B"/>
                </a:solidFill>
                <a:latin typeface="Arial"/>
                <a:ea typeface="Arial"/>
                <a:cs typeface="Arial"/>
              </a:defRPr>
            </a:pPr>
            <a:r>
              <a:rPr sz="2100" b="0">
                <a:solidFill>
                  <a:srgbClr val="16243B"/>
                </a:solidFill>
                <a:latin typeface="Arial"/>
                <a:ea typeface="Arial"/>
                <a:cs typeface="Arial"/>
              </a:rPr>
              <a:t>  -e EXPECTED_VERSION=v1-fast</a:t>
            </a:r>
          </a:p>
        </p:txBody>
      </p:sp>
      <p:sp>
        <p:nvSpPr>
          <p:cNvPr id="5" name="">
            <a:extLst xmlns:a="http://schemas.openxmlformats.org/drawingml/2006/main">
              <a:ext uri="{FF2B5EF4-FFF2-40B4-BE49-F238E27FC236}">
                <a16:creationId xmlns:a16="http://schemas.microsoft.com/office/drawing/2014/main" id="{DBFC4E24-6D76-48F0-A4E4-A7C06B2EDF28}"/>
              </a:ext>
            </a:extLst>
          </p:cNvPr>
          <p:cNvSpPr>
            <a:spLocks xmlns:a="http://schemas.openxmlformats.org/drawingml/2006/main" noGrp="1"/>
          </p:cNvSpPr>
          <p:nvPr/>
        </p:nvSpPr>
        <p:spPr>
          <a:xfrm xmlns:a="http://schemas.openxmlformats.org/drawingml/2006/main">
            <a:off x="685800" y="45720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14805C"/>
                </a:solidFill>
                <a:latin typeface="Arial"/>
                <a:ea typeface="Arial"/>
                <a:cs typeface="Arial"/>
              </a:defRPr>
            </a:defPPr>
          </a:lstStyle>
          <a:p xmlns:a="http://schemas.openxmlformats.org/drawingml/2006/main">
            <a:pPr>
              <a:defRPr sz="2475" b="1">
                <a:solidFill>
                  <a:srgbClr val="14805C"/>
                </a:solidFill>
                <a:latin typeface="Arial"/>
                <a:ea typeface="Arial"/>
                <a:cs typeface="Arial"/>
              </a:defRPr>
            </a:pPr>
            <a:r>
              <a:rPr sz="2475" b="1">
                <a:solidFill>
                  <a:srgbClr val="14805C"/>
                </a:solidFill>
                <a:latin typeface="Arial"/>
                <a:ea typeface="Arial"/>
                <a:cs typeface="Arial"/>
              </a:rPr>
              <a:t>Fast candidate</a:t>
            </a:r>
          </a:p>
          <a:p xmlns:a="http://schemas.openxmlformats.org/drawingml/2006/main">
            <a:pPr>
              <a:defRPr sz="2475" b="1">
                <a:solidFill>
                  <a:srgbClr val="14805C"/>
                </a:solidFill>
                <a:latin typeface="Arial"/>
                <a:ea typeface="Arial"/>
                <a:cs typeface="Arial"/>
              </a:defRPr>
            </a:pPr>
            <a:r>
              <a:rPr sz="2475" b="1">
                <a:solidFill>
                  <a:srgbClr val="14805C"/>
                </a:solidFill>
                <a:latin typeface="Arial"/>
                <a:ea typeface="Arial"/>
                <a:cs typeface="Arial"/>
              </a:rPr>
              <a:t>PASS, exit code 0</a:t>
            </a:r>
          </a:p>
        </p:txBody>
      </p:sp>
      <p:sp>
        <p:nvSpPr>
          <p:cNvPr id="6" name="">
            <a:extLst xmlns:a="http://schemas.openxmlformats.org/drawingml/2006/main">
              <a:ext uri="{FF2B5EF4-FFF2-40B4-BE49-F238E27FC236}">
                <a16:creationId xmlns:a16="http://schemas.microsoft.com/office/drawing/2014/main" id="{30A0C5B9-2692-40F8-814A-26AB573A2A73}"/>
              </a:ext>
            </a:extLst>
          </p:cNvPr>
          <p:cNvSpPr>
            <a:spLocks xmlns:a="http://schemas.openxmlformats.org/drawingml/2006/main" noGrp="1"/>
          </p:cNvSpPr>
          <p:nvPr/>
        </p:nvSpPr>
        <p:spPr>
          <a:xfrm xmlns:a="http://schemas.openxmlformats.org/drawingml/2006/main">
            <a:off x="6667500" y="457200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BA394A"/>
                </a:solidFill>
                <a:latin typeface="Arial"/>
                <a:ea typeface="Arial"/>
                <a:cs typeface="Arial"/>
              </a:defRPr>
            </a:defPPr>
          </a:lstStyle>
          <a:p xmlns:a="http://schemas.openxmlformats.org/drawingml/2006/main">
            <a:pPr>
              <a:defRPr sz="2475" b="1">
                <a:solidFill>
                  <a:srgbClr val="BA394A"/>
                </a:solidFill>
                <a:latin typeface="Arial"/>
                <a:ea typeface="Arial"/>
                <a:cs typeface="Arial"/>
              </a:defRPr>
            </a:pPr>
            <a:r>
              <a:rPr sz="2475" b="1">
                <a:solidFill>
                  <a:srgbClr val="BA394A"/>
                </a:solidFill>
                <a:latin typeface="Arial"/>
                <a:ea typeface="Arial"/>
                <a:cs typeface="Arial"/>
              </a:rPr>
              <a:t>Slow candidate</a:t>
            </a:r>
          </a:p>
          <a:p xmlns:a="http://schemas.openxmlformats.org/drawingml/2006/main">
            <a:pPr>
              <a:defRPr sz="2475" b="1">
                <a:solidFill>
                  <a:srgbClr val="BA394A"/>
                </a:solidFill>
                <a:latin typeface="Arial"/>
                <a:ea typeface="Arial"/>
                <a:cs typeface="Arial"/>
              </a:defRPr>
            </a:pPr>
            <a:r>
              <a:rPr sz="2475" b="1">
                <a:solidFill>
                  <a:srgbClr val="BA394A"/>
                </a:solidFill>
                <a:latin typeface="Arial"/>
                <a:ea typeface="Arial"/>
                <a:cs typeface="Arial"/>
              </a:rPr>
              <a:t>FAIL, exit code 99</a:t>
            </a:r>
          </a:p>
        </p:txBody>
      </p:sp>
      <p:sp>
        <p:nvSpPr>
          <p:cNvPr id="7" name="">
            <a:extLst xmlns:a="http://schemas.openxmlformats.org/drawingml/2006/main">
              <a:ext uri="{FF2B5EF4-FFF2-40B4-BE49-F238E27FC236}">
                <a16:creationId xmlns:a16="http://schemas.microsoft.com/office/drawing/2014/main" id="{0D420E2A-AD6C-4917-8D35-196274B99FC1}"/>
              </a:ext>
            </a:extLst>
          </p:cNvPr>
          <p:cNvSpPr>
            <a:spLocks xmlns:a="http://schemas.openxmlformats.org/drawingml/2006/main" noGrp="1"/>
          </p:cNvSpPr>
          <p:nvPr/>
        </p:nvSpPr>
        <p:spPr>
          <a:xfrm xmlns:a="http://schemas.openxmlformats.org/drawingml/2006/main">
            <a:off x="685800" y="6019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27188"/>
                </a:solidFill>
                <a:latin typeface="Arial"/>
                <a:ea typeface="Arial"/>
                <a:cs typeface="Arial"/>
              </a:defRPr>
            </a:defPPr>
          </a:lstStyle>
          <a:p xmlns:a="http://schemas.openxmlformats.org/drawingml/2006/main">
            <a:pPr>
              <a:defRPr sz="1875" b="0">
                <a:solidFill>
                  <a:srgbClr val="627188"/>
                </a:solidFill>
                <a:latin typeface="Arial"/>
                <a:ea typeface="Arial"/>
                <a:cs typeface="Arial"/>
              </a:defRPr>
            </a:pPr>
            <a:r>
              <a:rPr sz="1875" b="0">
                <a:solidFill>
                  <a:srgbClr val="627188"/>
                </a:solidFill>
                <a:latin typeface="Arial"/>
                <a:ea typeface="Arial"/>
                <a:cs typeface="Arial"/>
              </a:rPr>
              <a:t>The pipeline uses this exit code to permit or skip deployment.</a:t>
            </a:r>
          </a:p>
        </p:txBody>
      </p:sp>
    </p:spTree>
    <p:extLst>
      <p:ext uri="{BB962C8B-B14F-4D97-AF65-F5344CB8AC3E}">
        <p14:creationId xmlns:p14="http://schemas.microsoft.com/office/powerpoint/2010/main" val="1435179784"/>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F60025-7ECF-4523-81E5-A8D572E036F5}"/>
              </a:ext>
            </a:extLst>
          </p:cNvPr>
          <p:cNvSpPr>
            <a:spLocks xmlns:a="http://schemas.openxmlformats.org/drawingml/2006/main" noGrp="1"/>
          </p:cNvSpPr>
          <p:nvPr/>
        </p:nvSpPr>
        <p:spPr>
          <a:xfrm xmlns:a="http://schemas.openxmlformats.org/drawingml/2006/main">
            <a:off x="685800" y="4572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6243B"/>
                </a:solidFill>
                <a:latin typeface="Arial"/>
                <a:ea typeface="Arial"/>
                <a:cs typeface="Arial"/>
              </a:defRPr>
            </a:defPPr>
          </a:lstStyle>
          <a:p xmlns:a="http://schemas.openxmlformats.org/drawingml/2006/main">
            <a:pPr>
              <a:defRPr sz="3300" b="1">
                <a:solidFill>
                  <a:srgbClr val="16243B"/>
                </a:solidFill>
                <a:latin typeface="Arial"/>
                <a:ea typeface="Arial"/>
                <a:cs typeface="Arial"/>
              </a:defRPr>
            </a:pPr>
            <a:r>
              <a:rPr sz="3300" b="1">
                <a:solidFill>
                  <a:srgbClr val="16243B"/>
                </a:solidFill>
                <a:latin typeface="Arial"/>
                <a:ea typeface="Arial"/>
                <a:cs typeface="Arial"/>
              </a:rPr>
              <a:t>GitHub Actions integration</a:t>
            </a:r>
          </a:p>
        </p:txBody>
      </p:sp>
      <p:sp>
        <p:nvSpPr>
          <p:cNvPr id="2" name="">
            <a:extLst xmlns:a="http://schemas.openxmlformats.org/drawingml/2006/main">
              <a:ext uri="{FF2B5EF4-FFF2-40B4-BE49-F238E27FC236}">
                <a16:creationId xmlns:a16="http://schemas.microsoft.com/office/drawing/2014/main" id="{FBCB0564-13F0-462A-8BFD-74EF04E63421}"/>
              </a:ext>
            </a:extLst>
          </p:cNvPr>
          <p:cNvSpPr>
            <a:spLocks xmlns:a="http://schemas.openxmlformats.org/drawingml/2006/main" noGrp="1"/>
          </p:cNvSpPr>
          <p:nvPr/>
        </p:nvSpPr>
        <p:spPr>
          <a:xfrm xmlns:a="http://schemas.openxmlformats.org/drawingml/2006/main">
            <a:off x="11144250" y="63341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27188"/>
                </a:solidFill>
                <a:latin typeface="Arial"/>
                <a:ea typeface="Arial"/>
                <a:cs typeface="Arial"/>
              </a:defRPr>
            </a:defPPr>
          </a:lstStyle>
          <a:p xmlns:a="http://schemas.openxmlformats.org/drawingml/2006/main">
            <a:pPr>
              <a:defRPr sz="1350" b="0">
                <a:solidFill>
                  <a:srgbClr val="627188"/>
                </a:solidFill>
                <a:latin typeface="Arial"/>
                <a:ea typeface="Arial"/>
                <a:cs typeface="Arial"/>
              </a:defRPr>
            </a:pPr>
            <a:r>
              <a:rPr sz="1350" b="0">
                <a:solidFill>
                  <a:srgbClr val="627188"/>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AA138E35-9788-4B0C-AB35-9E57A6EA541E}"/>
              </a:ext>
            </a:extLst>
          </p:cNvPr>
          <p:cNvSpPr>
            <a:spLocks xmlns:a="http://schemas.openxmlformats.org/drawingml/2006/main" noGrp="1"/>
          </p:cNvSpPr>
          <p:nvPr/>
        </p:nvSpPr>
        <p:spPr>
          <a:xfrm xmlns:a="http://schemas.openxmlformats.org/drawingml/2006/main">
            <a:off x="685800" y="17621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345FE8"/>
                </a:solidFill>
                <a:latin typeface="Arial"/>
                <a:ea typeface="Arial"/>
                <a:cs typeface="Arial"/>
              </a:defRPr>
            </a:defPPr>
          </a:lstStyle>
          <a:p xmlns:a="http://schemas.openxmlformats.org/drawingml/2006/main">
            <a:pPr>
              <a:defRPr sz="2700" b="1">
                <a:solidFill>
                  <a:srgbClr val="345FE8"/>
                </a:solidFill>
                <a:latin typeface="Arial"/>
                <a:ea typeface="Arial"/>
                <a:cs typeface="Arial"/>
              </a:defRPr>
            </a:pPr>
            <a:r>
              <a:rPr sz="2700" b="1">
                <a:solidFill>
                  <a:srgbClr val="345FE8"/>
                </a:solidFill>
                <a:latin typeface="Arial"/>
                <a:ea typeface="Arial"/>
                <a:cs typeface="Arial"/>
              </a:rPr>
              <a:t>Build and test candidate</a:t>
            </a:r>
          </a:p>
        </p:txBody>
      </p:sp>
      <p:sp>
        <p:nvSpPr>
          <p:cNvPr id="4" name="">
            <a:extLst xmlns:a="http://schemas.openxmlformats.org/drawingml/2006/main">
              <a:ext uri="{FF2B5EF4-FFF2-40B4-BE49-F238E27FC236}">
                <a16:creationId xmlns:a16="http://schemas.microsoft.com/office/drawing/2014/main" id="{BC6E0DAF-939D-44F0-AA8D-00C2FE08E072}"/>
              </a:ext>
            </a:extLst>
          </p:cNvPr>
          <p:cNvSpPr>
            <a:spLocks xmlns:a="http://schemas.openxmlformats.org/drawingml/2006/main" noGrp="1"/>
          </p:cNvSpPr>
          <p:nvPr/>
        </p:nvSpPr>
        <p:spPr>
          <a:xfrm xmlns:a="http://schemas.openxmlformats.org/drawingml/2006/main">
            <a:off x="685800" y="2476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6243B"/>
                </a:solidFill>
                <a:latin typeface="Arial"/>
                <a:ea typeface="Arial"/>
                <a:cs typeface="Arial"/>
              </a:defRPr>
            </a:defPPr>
          </a:lstStyle>
          <a:p xmlns:a="http://schemas.openxmlformats.org/drawingml/2006/main">
            <a:pPr>
              <a:defRPr sz="2250" b="0">
                <a:solidFill>
                  <a:srgbClr val="16243B"/>
                </a:solidFill>
                <a:latin typeface="Arial"/>
                <a:ea typeface="Arial"/>
                <a:cs typeface="Arial"/>
              </a:defRPr>
            </a:pPr>
            <a:r>
              <a:rPr sz="2250" b="0">
                <a:solidFill>
                  <a:srgbClr val="16243B"/>
                </a:solidFill>
                <a:latin typeface="Arial"/>
                <a:ea typeface="Arial"/>
                <a:cs typeface="Arial"/>
              </a:rPr>
              <a:t>Save the tested Docker image after a successful gate</a:t>
            </a:r>
          </a:p>
        </p:txBody>
      </p:sp>
      <p:sp>
        <p:nvSpPr>
          <p:cNvPr id="5" name="">
            <a:extLst xmlns:a="http://schemas.openxmlformats.org/drawingml/2006/main">
              <a:ext uri="{FF2B5EF4-FFF2-40B4-BE49-F238E27FC236}">
                <a16:creationId xmlns:a16="http://schemas.microsoft.com/office/drawing/2014/main" id="{31C62CB6-DFEC-4650-94DE-9FCA2826CDB8}"/>
              </a:ext>
            </a:extLst>
          </p:cNvPr>
          <p:cNvSpPr>
            <a:spLocks xmlns:a="http://schemas.openxmlformats.org/drawingml/2006/main" noGrp="1"/>
          </p:cNvSpPr>
          <p:nvPr/>
        </p:nvSpPr>
        <p:spPr>
          <a:xfrm xmlns:a="http://schemas.openxmlformats.org/drawingml/2006/main">
            <a:off x="685800" y="3886200"/>
            <a:ext cx="581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0">
                <a:solidFill>
                  <a:srgbClr val="16243B"/>
                </a:solidFill>
                <a:latin typeface="Arial"/>
                <a:ea typeface="Arial"/>
                <a:cs typeface="Arial"/>
              </a:defRPr>
            </a:defPPr>
          </a:lstStyle>
          <a:p xmlns:a="http://schemas.openxmlformats.org/drawingml/2006/main">
            <a:pPr>
              <a:defRPr sz="2550" b="0">
                <a:solidFill>
                  <a:srgbClr val="16243B"/>
                </a:solidFill>
                <a:latin typeface="Arial"/>
                <a:ea typeface="Arial"/>
                <a:cs typeface="Arial"/>
              </a:defRPr>
            </a:pPr>
            <a:r>
              <a:rPr sz="2550" b="0">
                <a:solidFill>
                  <a:srgbClr val="16243B"/>
                </a:solidFill>
                <a:latin typeface="Arial"/>
                <a:ea typeface="Arial"/>
                <a:cs typeface="Arial"/>
              </a:rPr>
              <a:t>deploy_demo:</a:t>
            </a:r>
          </a:p>
          <a:p xmlns:a="http://schemas.openxmlformats.org/drawingml/2006/main">
            <a:pPr>
              <a:defRPr sz="2550" b="0">
                <a:solidFill>
                  <a:srgbClr val="16243B"/>
                </a:solidFill>
                <a:latin typeface="Arial"/>
                <a:ea typeface="Arial"/>
                <a:cs typeface="Arial"/>
              </a:defRPr>
            </a:pPr>
            <a:r>
              <a:rPr sz="2550" b="0">
                <a:solidFill>
                  <a:srgbClr val="16243B"/>
                </a:solidFill>
                <a:latin typeface="Arial"/>
                <a:ea typeface="Arial"/>
                <a:cs typeface="Arial"/>
              </a:rPr>
              <a:t>  needs: performance</a:t>
            </a:r>
          </a:p>
        </p:txBody>
      </p:sp>
      <p:sp>
        <p:nvSpPr>
          <p:cNvPr id="6" name="">
            <a:extLst xmlns:a="http://schemas.openxmlformats.org/drawingml/2006/main">
              <a:ext uri="{FF2B5EF4-FFF2-40B4-BE49-F238E27FC236}">
                <a16:creationId xmlns:a16="http://schemas.microsoft.com/office/drawing/2014/main" id="{23B5FF69-27EB-46F1-9C16-2C90E116FA8A}"/>
              </a:ext>
            </a:extLst>
          </p:cNvPr>
          <p:cNvSpPr>
            <a:spLocks xmlns:a="http://schemas.openxmlformats.org/drawingml/2006/main" noGrp="1"/>
          </p:cNvSpPr>
          <p:nvPr/>
        </p:nvSpPr>
        <p:spPr>
          <a:xfrm xmlns:a="http://schemas.openxmlformats.org/drawingml/2006/main">
            <a:off x="7143750" y="3886200"/>
            <a:ext cx="4191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BA394A"/>
                </a:solidFill>
                <a:latin typeface="Arial"/>
                <a:ea typeface="Arial"/>
                <a:cs typeface="Arial"/>
              </a:defRPr>
            </a:defPPr>
          </a:lstStyle>
          <a:p xmlns:a="http://schemas.openxmlformats.org/drawingml/2006/main">
            <a:pPr>
              <a:defRPr sz="2325" b="1">
                <a:solidFill>
                  <a:srgbClr val="BA394A"/>
                </a:solidFill>
                <a:latin typeface="Arial"/>
                <a:ea typeface="Arial"/>
                <a:cs typeface="Arial"/>
              </a:defRPr>
            </a:pPr>
            <a:r>
              <a:rPr sz="2325" b="1">
                <a:solidFill>
                  <a:srgbClr val="BA394A"/>
                </a:solidFill>
                <a:latin typeface="Arial"/>
                <a:ea typeface="Arial"/>
                <a:cs typeface="Arial"/>
              </a:rPr>
              <a:t>A failed test skips</a:t>
            </a:r>
          </a:p>
          <a:p xmlns:a="http://schemas.openxmlformats.org/drawingml/2006/main">
            <a:pPr>
              <a:defRPr sz="2325" b="1">
                <a:solidFill>
                  <a:srgbClr val="BA394A"/>
                </a:solidFill>
                <a:latin typeface="Arial"/>
                <a:ea typeface="Arial"/>
                <a:cs typeface="Arial"/>
              </a:defRPr>
            </a:pPr>
            <a:r>
              <a:rPr sz="2325" b="1">
                <a:solidFill>
                  <a:srgbClr val="BA394A"/>
                </a:solidFill>
                <a:latin typeface="Arial"/>
                <a:ea typeface="Arial"/>
                <a:cs typeface="Arial"/>
              </a:rPr>
              <a:t>the deployment job.</a:t>
            </a:r>
          </a:p>
        </p:txBody>
      </p:sp>
      <p:sp>
        <p:nvSpPr>
          <p:cNvPr id="7" name="">
            <a:extLst xmlns:a="http://schemas.openxmlformats.org/drawingml/2006/main">
              <a:ext uri="{FF2B5EF4-FFF2-40B4-BE49-F238E27FC236}">
                <a16:creationId xmlns:a16="http://schemas.microsoft.com/office/drawing/2014/main" id="{C4DFF05B-AE99-4182-AC42-DA6561221E6B}"/>
              </a:ext>
            </a:extLst>
          </p:cNvPr>
          <p:cNvSpPr>
            <a:spLocks xmlns:a="http://schemas.openxmlformats.org/drawingml/2006/main" noGrp="1"/>
          </p:cNvSpPr>
          <p:nvPr/>
        </p:nvSpPr>
        <p:spPr>
          <a:xfrm xmlns:a="http://schemas.openxmlformats.org/drawingml/2006/main">
            <a:off x="685800" y="58674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27188"/>
                </a:solidFill>
                <a:latin typeface="Arial"/>
                <a:ea typeface="Arial"/>
                <a:cs typeface="Arial"/>
              </a:defRPr>
            </a:defPPr>
          </a:lstStyle>
          <a:p xmlns:a="http://schemas.openxmlformats.org/drawingml/2006/main">
            <a:pPr>
              <a:defRPr sz="1950" b="0">
                <a:solidFill>
                  <a:srgbClr val="627188"/>
                </a:solidFill>
                <a:latin typeface="Arial"/>
                <a:ea typeface="Arial"/>
                <a:cs typeface="Arial"/>
              </a:defRPr>
            </a:pPr>
            <a:r>
              <a:rPr sz="1950" b="0">
                <a:solidFill>
                  <a:srgbClr val="627188"/>
                </a:solidFill>
                <a:latin typeface="Arial"/>
                <a:ea typeface="Arial"/>
                <a:cs typeface="Arial"/>
              </a:rPr>
              <a:t>CI deployment runs temporarily on the GitHub runner.</a:t>
            </a:r>
          </a:p>
        </p:txBody>
      </p:sp>
    </p:spTree>
    <p:extLst>
      <p:ext uri="{BB962C8B-B14F-4D97-AF65-F5344CB8AC3E}">
        <p14:creationId xmlns:p14="http://schemas.microsoft.com/office/powerpoint/2010/main" val="964461344"/>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223A28-B834-4585-B5A1-15722EC45597}"/>
              </a:ext>
            </a:extLst>
          </p:cNvPr>
          <p:cNvSpPr>
            <a:spLocks xmlns:a="http://schemas.openxmlformats.org/drawingml/2006/main" noGrp="1"/>
          </p:cNvSpPr>
          <p:nvPr/>
        </p:nvSpPr>
        <p:spPr>
          <a:xfrm xmlns:a="http://schemas.openxmlformats.org/drawingml/2006/main">
            <a:off x="685800" y="45720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6243B"/>
                </a:solidFill>
                <a:latin typeface="Arial"/>
                <a:ea typeface="Arial"/>
                <a:cs typeface="Arial"/>
              </a:defRPr>
            </a:defPPr>
          </a:lstStyle>
          <a:p xmlns:a="http://schemas.openxmlformats.org/drawingml/2006/main">
            <a:pPr>
              <a:defRPr sz="3300" b="1">
                <a:solidFill>
                  <a:srgbClr val="16243B"/>
                </a:solidFill>
                <a:latin typeface="Arial"/>
                <a:ea typeface="Arial"/>
                <a:cs typeface="Arial"/>
              </a:defRPr>
            </a:pPr>
            <a:r>
              <a:rPr sz="3300" b="1">
                <a:solidFill>
                  <a:srgbClr val="16243B"/>
                </a:solidFill>
                <a:latin typeface="Arial"/>
                <a:ea typeface="Arial"/>
                <a:cs typeface="Arial"/>
              </a:rPr>
              <a:t>Scope and future work</a:t>
            </a:r>
          </a:p>
        </p:txBody>
      </p:sp>
      <p:sp>
        <p:nvSpPr>
          <p:cNvPr id="2" name="">
            <a:extLst xmlns:a="http://schemas.openxmlformats.org/drawingml/2006/main">
              <a:ext uri="{FF2B5EF4-FFF2-40B4-BE49-F238E27FC236}">
                <a16:creationId xmlns:a16="http://schemas.microsoft.com/office/drawing/2014/main" id="{11690A08-A3B8-456D-9A2C-DBCD97E770CC}"/>
              </a:ext>
            </a:extLst>
          </p:cNvPr>
          <p:cNvSpPr>
            <a:spLocks xmlns:a="http://schemas.openxmlformats.org/drawingml/2006/main" noGrp="1"/>
          </p:cNvSpPr>
          <p:nvPr/>
        </p:nvSpPr>
        <p:spPr>
          <a:xfrm xmlns:a="http://schemas.openxmlformats.org/drawingml/2006/main">
            <a:off x="11144250" y="6334125"/>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27188"/>
                </a:solidFill>
                <a:latin typeface="Arial"/>
                <a:ea typeface="Arial"/>
                <a:cs typeface="Arial"/>
              </a:defRPr>
            </a:defPPr>
          </a:lstStyle>
          <a:p xmlns:a="http://schemas.openxmlformats.org/drawingml/2006/main">
            <a:pPr>
              <a:defRPr sz="1350" b="0">
                <a:solidFill>
                  <a:srgbClr val="627188"/>
                </a:solidFill>
                <a:latin typeface="Arial"/>
                <a:ea typeface="Arial"/>
                <a:cs typeface="Arial"/>
              </a:defRPr>
            </a:pPr>
            <a:r>
              <a:rPr sz="1350" b="0">
                <a:solidFill>
                  <a:srgbClr val="627188"/>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9BE547DA-190C-4523-BEE4-8A35C8D866BE}"/>
              </a:ext>
            </a:extLst>
          </p:cNvPr>
          <p:cNvSpPr>
            <a:spLocks xmlns:a="http://schemas.openxmlformats.org/drawingml/2006/main" noGrp="1"/>
          </p:cNvSpPr>
          <p:nvPr/>
        </p:nvSpPr>
        <p:spPr>
          <a:xfrm xmlns:a="http://schemas.openxmlformats.org/drawingml/2006/main">
            <a:off x="685800" y="171450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345FE8"/>
                </a:solidFill>
                <a:latin typeface="Arial"/>
                <a:ea typeface="Arial"/>
                <a:cs typeface="Arial"/>
              </a:defRPr>
            </a:defPPr>
          </a:lstStyle>
          <a:p xmlns:a="http://schemas.openxmlformats.org/drawingml/2006/main">
            <a:pPr>
              <a:defRPr sz="2700" b="1">
                <a:solidFill>
                  <a:srgbClr val="345FE8"/>
                </a:solidFill>
                <a:latin typeface="Arial"/>
                <a:ea typeface="Arial"/>
                <a:cs typeface="Arial"/>
              </a:defRPr>
            </a:pPr>
            <a:r>
              <a:rPr sz="2700" b="1">
                <a:solidFill>
                  <a:srgbClr val="345FE8"/>
                </a:solidFill>
                <a:latin typeface="Arial"/>
                <a:ea typeface="Arial"/>
                <a:cs typeface="Arial"/>
              </a:rPr>
              <a:t>Current scope</a:t>
            </a:r>
          </a:p>
        </p:txBody>
      </p:sp>
      <p:sp>
        <p:nvSpPr>
          <p:cNvPr id="4" name="">
            <a:extLst xmlns:a="http://schemas.openxmlformats.org/drawingml/2006/main">
              <a:ext uri="{FF2B5EF4-FFF2-40B4-BE49-F238E27FC236}">
                <a16:creationId xmlns:a16="http://schemas.microsoft.com/office/drawing/2014/main" id="{7E3B6403-87A0-4FD9-84B7-334C2F6E4861}"/>
              </a:ext>
            </a:extLst>
          </p:cNvPr>
          <p:cNvSpPr>
            <a:spLocks xmlns:a="http://schemas.openxmlformats.org/drawingml/2006/main" noGrp="1"/>
          </p:cNvSpPr>
          <p:nvPr/>
        </p:nvSpPr>
        <p:spPr>
          <a:xfrm xmlns:a="http://schemas.openxmlformats.org/drawingml/2006/main">
            <a:off x="685800" y="2590800"/>
            <a:ext cx="504825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6243B"/>
                </a:solidFill>
                <a:latin typeface="Arial"/>
                <a:ea typeface="Arial"/>
                <a:cs typeface="Arial"/>
              </a:defRPr>
            </a:defPPr>
          </a:lstStyle>
          <a:p xmlns:a="http://schemas.openxmlformats.org/drawingml/2006/main">
            <a:pPr>
              <a:defRPr sz="2250" b="0">
                <a:solidFill>
                  <a:srgbClr val="16243B"/>
                </a:solidFill>
                <a:latin typeface="Arial"/>
                <a:ea typeface="Arial"/>
                <a:cs typeface="Arial"/>
              </a:defRPr>
            </a:pPr>
            <a:r>
              <a:rPr sz="2250" b="0">
                <a:solidFill>
                  <a:srgbClr val="16243B"/>
                </a:solidFill>
                <a:latin typeface="Arial"/>
                <a:ea typeface="Arial"/>
                <a:cs typeface="Arial"/>
              </a:rPr>
              <a:t>A controlled API slowdown</a:t>
            </a:r>
          </a:p>
          <a:p xmlns:a="http://schemas.openxmlformats.org/drawingml/2006/main">
            <a:pPr>
              <a:defRPr sz="2250" b="0">
                <a:solidFill>
                  <a:srgbClr val="16243B"/>
                </a:solidFill>
                <a:latin typeface="Arial"/>
                <a:ea typeface="Arial"/>
                <a:cs typeface="Arial"/>
              </a:defRPr>
            </a:pPr>
            <a:r>
              <a:rPr sz="2250" b="0">
                <a:solidFill>
                  <a:srgbClr val="16243B"/>
                </a:solidFill>
                <a:latin typeface="Arial"/>
                <a:ea typeface="Arial"/>
                <a:cs typeface="Arial"/>
              </a:rPr>
              <a:t>Fixed performance budgets</a:t>
            </a:r>
          </a:p>
          <a:p xmlns:a="http://schemas.openxmlformats.org/drawingml/2006/main">
            <a:pPr>
              <a:defRPr sz="2250" b="0">
                <a:solidFill>
                  <a:srgbClr val="16243B"/>
                </a:solidFill>
                <a:latin typeface="Arial"/>
                <a:ea typeface="Arial"/>
                <a:cs typeface="Arial"/>
              </a:defRPr>
            </a:pPr>
            <a:r>
              <a:rPr sz="2250" b="0">
                <a:solidFill>
                  <a:srgbClr val="16243B"/>
                </a:solidFill>
                <a:latin typeface="Arial"/>
                <a:ea typeface="Arial"/>
                <a:cs typeface="Arial"/>
              </a:rPr>
              <a:t>Short local load test</a:t>
            </a:r>
          </a:p>
          <a:p xmlns:a="http://schemas.openxmlformats.org/drawingml/2006/main">
            <a:pPr>
              <a:defRPr sz="2250" b="0">
                <a:solidFill>
                  <a:srgbClr val="16243B"/>
                </a:solidFill>
                <a:latin typeface="Arial"/>
                <a:ea typeface="Arial"/>
                <a:cs typeface="Arial"/>
              </a:defRPr>
            </a:pPr>
            <a:r>
              <a:rPr sz="2250" b="0">
                <a:solidFill>
                  <a:srgbClr val="16243B"/>
                </a:solidFill>
                <a:latin typeface="Arial"/>
                <a:ea typeface="Arial"/>
                <a:cs typeface="Arial"/>
              </a:rPr>
              <a:t>Real local release replacement</a:t>
            </a:r>
          </a:p>
        </p:txBody>
      </p:sp>
      <p:sp>
        <p:nvSpPr>
          <p:cNvPr id="5" name="">
            <a:extLst xmlns:a="http://schemas.openxmlformats.org/drawingml/2006/main">
              <a:ext uri="{FF2B5EF4-FFF2-40B4-BE49-F238E27FC236}">
                <a16:creationId xmlns:a16="http://schemas.microsoft.com/office/drawing/2014/main" id="{8302D2BC-C34B-4DAE-9720-EF94DFDD0D66}"/>
              </a:ext>
            </a:extLst>
          </p:cNvPr>
          <p:cNvSpPr>
            <a:spLocks xmlns:a="http://schemas.openxmlformats.org/drawingml/2006/main" noGrp="1"/>
          </p:cNvSpPr>
          <p:nvPr/>
        </p:nvSpPr>
        <p:spPr>
          <a:xfrm xmlns:a="http://schemas.openxmlformats.org/drawingml/2006/main">
            <a:off x="6667500" y="171450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345FE8"/>
                </a:solidFill>
                <a:latin typeface="Arial"/>
                <a:ea typeface="Arial"/>
                <a:cs typeface="Arial"/>
              </a:defRPr>
            </a:defPPr>
          </a:lstStyle>
          <a:p xmlns:a="http://schemas.openxmlformats.org/drawingml/2006/main">
            <a:pPr>
              <a:defRPr sz="2700" b="1">
                <a:solidFill>
                  <a:srgbClr val="345FE8"/>
                </a:solidFill>
                <a:latin typeface="Arial"/>
                <a:ea typeface="Arial"/>
                <a:cs typeface="Arial"/>
              </a:defRPr>
            </a:pPr>
            <a:r>
              <a:rPr sz="2700" b="1">
                <a:solidFill>
                  <a:srgbClr val="345FE8"/>
                </a:solidFill>
                <a:latin typeface="Arial"/>
                <a:ea typeface="Arial"/>
                <a:cs typeface="Arial"/>
              </a:rPr>
              <a:t>Future work</a:t>
            </a:r>
          </a:p>
        </p:txBody>
      </p:sp>
      <p:sp>
        <p:nvSpPr>
          <p:cNvPr id="6" name="">
            <a:extLst xmlns:a="http://schemas.openxmlformats.org/drawingml/2006/main">
              <a:ext uri="{FF2B5EF4-FFF2-40B4-BE49-F238E27FC236}">
                <a16:creationId xmlns:a16="http://schemas.microsoft.com/office/drawing/2014/main" id="{04E1D91C-DDE5-4B4D-B840-2BBEBC60909F}"/>
              </a:ext>
            </a:extLst>
          </p:cNvPr>
          <p:cNvSpPr>
            <a:spLocks xmlns:a="http://schemas.openxmlformats.org/drawingml/2006/main" noGrp="1"/>
          </p:cNvSpPr>
          <p:nvPr/>
        </p:nvSpPr>
        <p:spPr>
          <a:xfrm xmlns:a="http://schemas.openxmlformats.org/drawingml/2006/main">
            <a:off x="6667500" y="2590800"/>
            <a:ext cx="4762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6243B"/>
                </a:solidFill>
                <a:latin typeface="Arial"/>
                <a:ea typeface="Arial"/>
                <a:cs typeface="Arial"/>
              </a:defRPr>
            </a:defPPr>
          </a:lstStyle>
          <a:p xmlns:a="http://schemas.openxmlformats.org/drawingml/2006/main">
            <a:pPr>
              <a:defRPr sz="2250" b="0">
                <a:solidFill>
                  <a:srgbClr val="16243B"/>
                </a:solidFill>
                <a:latin typeface="Arial"/>
                <a:ea typeface="Arial"/>
                <a:cs typeface="Arial"/>
              </a:defRPr>
            </a:pPr>
            <a:r>
              <a:rPr sz="2250" b="0">
                <a:solidFill>
                  <a:srgbClr val="16243B"/>
                </a:solidFill>
                <a:latin typeface="Arial"/>
                <a:ea typeface="Arial"/>
                <a:cs typeface="Arial"/>
              </a:rPr>
              <a:t>Representative user traffic</a:t>
            </a:r>
          </a:p>
          <a:p xmlns:a="http://schemas.openxmlformats.org/drawingml/2006/main">
            <a:pPr>
              <a:defRPr sz="2250" b="0">
                <a:solidFill>
                  <a:srgbClr val="16243B"/>
                </a:solidFill>
                <a:latin typeface="Arial"/>
                <a:ea typeface="Arial"/>
                <a:cs typeface="Arial"/>
              </a:defRPr>
            </a:pPr>
            <a:r>
              <a:rPr sz="2250" b="0">
                <a:solidFill>
                  <a:srgbClr val="16243B"/>
                </a:solidFill>
                <a:latin typeface="Arial"/>
                <a:ea typeface="Arial"/>
                <a:cs typeface="Arial"/>
              </a:rPr>
              <a:t>Longer tests and history</a:t>
            </a:r>
          </a:p>
          <a:p xmlns:a="http://schemas.openxmlformats.org/drawingml/2006/main">
            <a:pPr>
              <a:defRPr sz="2250" b="0">
                <a:solidFill>
                  <a:srgbClr val="16243B"/>
                </a:solidFill>
                <a:latin typeface="Arial"/>
                <a:ea typeface="Arial"/>
                <a:cs typeface="Arial"/>
              </a:defRPr>
            </a:pPr>
            <a:r>
              <a:rPr sz="2250" b="0">
                <a:solidFill>
                  <a:srgbClr val="16243B"/>
                </a:solidFill>
                <a:latin typeface="Arial"/>
                <a:ea typeface="Arial"/>
                <a:cs typeface="Arial"/>
              </a:rPr>
              <a:t>Persistent deployment target</a:t>
            </a:r>
          </a:p>
          <a:p xmlns:a="http://schemas.openxmlformats.org/drawingml/2006/main">
            <a:pPr>
              <a:defRPr sz="2250" b="0">
                <a:solidFill>
                  <a:srgbClr val="16243B"/>
                </a:solidFill>
                <a:latin typeface="Arial"/>
                <a:ea typeface="Arial"/>
                <a:cs typeface="Arial"/>
              </a:defRPr>
            </a:pPr>
            <a:r>
              <a:rPr sz="2250" b="0">
                <a:solidFill>
                  <a:srgbClr val="16243B"/>
                </a:solidFill>
                <a:latin typeface="Arial"/>
                <a:ea typeface="Arial"/>
                <a:cs typeface="Arial"/>
              </a:rPr>
              <a:t>Monitoring after release</a:t>
            </a:r>
          </a:p>
        </p:txBody>
      </p:sp>
      <p:sp>
        <p:nvSpPr>
          <p:cNvPr id="7" name="">
            <a:extLst xmlns:a="http://schemas.openxmlformats.org/drawingml/2006/main">
              <a:ext uri="{FF2B5EF4-FFF2-40B4-BE49-F238E27FC236}">
                <a16:creationId xmlns:a16="http://schemas.microsoft.com/office/drawing/2014/main" id="{E82632CC-E780-4961-984A-CBE4ED75FE17}"/>
              </a:ext>
            </a:extLst>
          </p:cNvPr>
          <p:cNvSpPr>
            <a:spLocks xmlns:a="http://schemas.openxmlformats.org/drawingml/2006/main" noGrp="1"/>
          </p:cNvSpPr>
          <p:nvPr/>
        </p:nvSpPr>
        <p:spPr>
          <a:xfrm xmlns:a="http://schemas.openxmlformats.org/drawingml/2006/main">
            <a:off x="685800" y="5857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27188"/>
                </a:solidFill>
                <a:latin typeface="Arial"/>
                <a:ea typeface="Arial"/>
                <a:cs typeface="Arial"/>
              </a:defRPr>
            </a:defPPr>
          </a:lstStyle>
          <a:p xmlns:a="http://schemas.openxmlformats.org/drawingml/2006/main">
            <a:pPr>
              <a:defRPr sz="1875" b="0">
                <a:solidFill>
                  <a:srgbClr val="627188"/>
                </a:solidFill>
                <a:latin typeface="Arial"/>
                <a:ea typeface="Arial"/>
                <a:cs typeface="Arial"/>
              </a:defRPr>
            </a:pPr>
            <a:r>
              <a:rPr sz="1875" b="0">
                <a:solidFill>
                  <a:srgbClr val="627188"/>
                </a:solidFill>
                <a:latin typeface="Arial"/>
                <a:ea typeface="Arial"/>
                <a:cs typeface="Arial"/>
              </a:rPr>
              <a:t>Presenter A: application + k6     Presenter B: pipeline + CI</a:t>
            </a:r>
          </a:p>
        </p:txBody>
      </p:sp>
    </p:spTree>
    <p:extLst>
      <p:ext uri="{BB962C8B-B14F-4D97-AF65-F5344CB8AC3E}">
        <p14:creationId xmlns:p14="http://schemas.microsoft.com/office/powerpoint/2010/main" val="3941964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2026-10-13T07:25:41.7980000Z</dcterms:created>
  <dcterms:modified xsi:type="dcterms:W3CDTF">2026-10-13T07:25:41.7980000Z</dcterms:modified>
</coreProperties>
</file>